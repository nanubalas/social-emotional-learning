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4"/>
  </p:sldMasterIdLst>
  <p:sldIdLst>
    <p:sldId id="256" r:id="rId5"/>
    <p:sldId id="265" r:id="rId6"/>
    <p:sldId id="257" r:id="rId7"/>
    <p:sldId id="258" r:id="rId8"/>
    <p:sldId id="266" r:id="rId9"/>
    <p:sldId id="267" r:id="rId10"/>
    <p:sldId id="268" r:id="rId11"/>
    <p:sldId id="269" r:id="rId12"/>
    <p:sldId id="270" r:id="rId13"/>
    <p:sldId id="272" r:id="rId14"/>
    <p:sldId id="271" r:id="rId15"/>
    <p:sldId id="273" r:id="rId16"/>
    <p:sldId id="274" r:id="rId17"/>
    <p:sldId id="277" r:id="rId18"/>
    <p:sldId id="276" r:id="rId19"/>
    <p:sldId id="275" r:id="rId20"/>
    <p:sldId id="262"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CF6BE3-4057-4CDA-AB2F-79A099E38B0E}" v="2" dt="2022-04-11T15:25:38.4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4/19/2022</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632655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4/19/2022</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27015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4/19/2022</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79528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4/19/2022</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17429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4/19/2022</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532102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4/19/2022</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828202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4/19/2022</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26788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4/19/2022</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27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4/19/2022</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1674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4/19/2022</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186245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4/19/2022</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73457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4/19/2022</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4196363465"/>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03" r:id="rId6"/>
    <p:sldLayoutId id="2147483699" r:id="rId7"/>
    <p:sldLayoutId id="2147483700" r:id="rId8"/>
    <p:sldLayoutId id="2147483701" r:id="rId9"/>
    <p:sldLayoutId id="2147483702" r:id="rId10"/>
    <p:sldLayoutId id="2147483704"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kaggle.com/larsen0966/student-performance-data-set" TargetMode="External"/><Relationship Id="rId2" Type="http://schemas.openxmlformats.org/officeDocument/2006/relationships/hyperlink" Target="https://www.kaggle.com/mahjabeenamira/classroom-image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B6CD22E-2269-419F-9E81-016EA035D4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B5F166-510B-4C0F-9429-75B63420C4AE}"/>
              </a:ext>
            </a:extLst>
          </p:cNvPr>
          <p:cNvSpPr>
            <a:spLocks noGrp="1"/>
          </p:cNvSpPr>
          <p:nvPr>
            <p:ph type="ctrTitle"/>
          </p:nvPr>
        </p:nvSpPr>
        <p:spPr>
          <a:xfrm>
            <a:off x="846406" y="1390590"/>
            <a:ext cx="5895178" cy="3807446"/>
          </a:xfrm>
        </p:spPr>
        <p:txBody>
          <a:bodyPr anchor="b">
            <a:normAutofit/>
          </a:bodyPr>
          <a:lstStyle/>
          <a:p>
            <a:pPr>
              <a:lnSpc>
                <a:spcPct val="90000"/>
              </a:lnSpc>
            </a:pPr>
            <a:r>
              <a:rPr lang="en-US" sz="4200" dirty="0">
                <a:latin typeface="High Tower Text" panose="02040502050506030303" pitchFamily="18" charset="0"/>
              </a:rPr>
              <a:t>Utilizing Data Mining Techniques to Enhance Learner's Emotional Intelligence and Academic Attainment</a:t>
            </a:r>
            <a:endParaRPr lang="en-GB" sz="4200" dirty="0">
              <a:latin typeface="High Tower Text" panose="02040502050506030303" pitchFamily="18" charset="0"/>
            </a:endParaRPr>
          </a:p>
        </p:txBody>
      </p:sp>
      <p:sp>
        <p:nvSpPr>
          <p:cNvPr id="44" name="Freeform: Shape 43">
            <a:extLst>
              <a:ext uri="{FF2B5EF4-FFF2-40B4-BE49-F238E27FC236}">
                <a16:creationId xmlns:a16="http://schemas.microsoft.com/office/drawing/2014/main" id="{AA607D34-E2A9-4595-9DB2-5472E077C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7082" y="0"/>
            <a:ext cx="4884918" cy="6858000"/>
          </a:xfrm>
          <a:custGeom>
            <a:avLst/>
            <a:gdLst>
              <a:gd name="connsiteX0" fmla="*/ 1097203 w 4884918"/>
              <a:gd name="connsiteY0" fmla="*/ 0 h 6858000"/>
              <a:gd name="connsiteX1" fmla="*/ 1154155 w 4884918"/>
              <a:gd name="connsiteY1" fmla="*/ 0 h 6858000"/>
              <a:gd name="connsiteX2" fmla="*/ 972305 w 4884918"/>
              <a:gd name="connsiteY2" fmla="*/ 343212 h 6858000"/>
              <a:gd name="connsiteX3" fmla="*/ 780524 w 4884918"/>
              <a:gd name="connsiteY3" fmla="*/ 761067 h 6858000"/>
              <a:gd name="connsiteX4" fmla="*/ 737045 w 4884918"/>
              <a:gd name="connsiteY4" fmla="*/ 865164 h 6858000"/>
              <a:gd name="connsiteX5" fmla="*/ 762322 w 4884918"/>
              <a:gd name="connsiteY5" fmla="*/ 830676 h 6858000"/>
              <a:gd name="connsiteX6" fmla="*/ 1118805 w 4884918"/>
              <a:gd name="connsiteY6" fmla="*/ 160440 h 6858000"/>
              <a:gd name="connsiteX7" fmla="*/ 1221640 w 4884918"/>
              <a:gd name="connsiteY7" fmla="*/ 0 h 6858000"/>
              <a:gd name="connsiteX8" fmla="*/ 4884918 w 4884918"/>
              <a:gd name="connsiteY8" fmla="*/ 0 h 6858000"/>
              <a:gd name="connsiteX9" fmla="*/ 4884918 w 4884918"/>
              <a:gd name="connsiteY9" fmla="*/ 6857999 h 6858000"/>
              <a:gd name="connsiteX10" fmla="*/ 4884918 w 4884918"/>
              <a:gd name="connsiteY10" fmla="*/ 6858000 h 6858000"/>
              <a:gd name="connsiteX11" fmla="*/ 704817 w 4884918"/>
              <a:gd name="connsiteY11" fmla="*/ 6858000 h 6858000"/>
              <a:gd name="connsiteX12" fmla="*/ 618717 w 4884918"/>
              <a:gd name="connsiteY12" fmla="*/ 6672538 h 6858000"/>
              <a:gd name="connsiteX13" fmla="*/ 309324 w 4884918"/>
              <a:gd name="connsiteY13" fmla="*/ 5833618 h 6858000"/>
              <a:gd name="connsiteX14" fmla="*/ 209850 w 4884918"/>
              <a:gd name="connsiteY14" fmla="*/ 5484180 h 6858000"/>
              <a:gd name="connsiteX15" fmla="*/ 211619 w 4884918"/>
              <a:gd name="connsiteY15" fmla="*/ 5517653 h 6858000"/>
              <a:gd name="connsiteX16" fmla="*/ 361778 w 4884918"/>
              <a:gd name="connsiteY16" fmla="*/ 6145524 h 6858000"/>
              <a:gd name="connsiteX17" fmla="*/ 591356 w 4884918"/>
              <a:gd name="connsiteY17" fmla="*/ 6843306 h 6858000"/>
              <a:gd name="connsiteX18" fmla="*/ 597415 w 4884918"/>
              <a:gd name="connsiteY18" fmla="*/ 6858000 h 6858000"/>
              <a:gd name="connsiteX19" fmla="*/ 545224 w 4884918"/>
              <a:gd name="connsiteY19" fmla="*/ 6858000 h 6858000"/>
              <a:gd name="connsiteX20" fmla="*/ 533604 w 4884918"/>
              <a:gd name="connsiteY20" fmla="*/ 6830072 h 6858000"/>
              <a:gd name="connsiteX21" fmla="*/ 169657 w 4884918"/>
              <a:gd name="connsiteY21" fmla="*/ 5556577 h 6858000"/>
              <a:gd name="connsiteX22" fmla="*/ 12169 w 4884918"/>
              <a:gd name="connsiteY22" fmla="*/ 4362835 h 6858000"/>
              <a:gd name="connsiteX23" fmla="*/ 46168 w 4884918"/>
              <a:gd name="connsiteY23" fmla="*/ 3338487 h 6858000"/>
              <a:gd name="connsiteX24" fmla="*/ 490574 w 4884918"/>
              <a:gd name="connsiteY24" fmla="*/ 1381078 h 6858000"/>
              <a:gd name="connsiteX25" fmla="*/ 984701 w 4884918"/>
              <a:gd name="connsiteY25" fmla="*/ 2082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884918" h="6858000">
                <a:moveTo>
                  <a:pt x="1097203" y="0"/>
                </a:moveTo>
                <a:lnTo>
                  <a:pt x="1154155" y="0"/>
                </a:lnTo>
                <a:lnTo>
                  <a:pt x="972305" y="343212"/>
                </a:lnTo>
                <a:cubicBezTo>
                  <a:pt x="904739" y="480367"/>
                  <a:pt x="840941" y="619727"/>
                  <a:pt x="780524" y="761067"/>
                </a:cubicBezTo>
                <a:cubicBezTo>
                  <a:pt x="765737" y="795681"/>
                  <a:pt x="751579" y="830550"/>
                  <a:pt x="737045" y="865164"/>
                </a:cubicBezTo>
                <a:cubicBezTo>
                  <a:pt x="748306" y="856057"/>
                  <a:pt x="757014" y="844174"/>
                  <a:pt x="762322" y="830676"/>
                </a:cubicBezTo>
                <a:cubicBezTo>
                  <a:pt x="870201" y="600612"/>
                  <a:pt x="988539" y="376889"/>
                  <a:pt x="1118805" y="160440"/>
                </a:cubicBezTo>
                <a:lnTo>
                  <a:pt x="1221640" y="0"/>
                </a:lnTo>
                <a:lnTo>
                  <a:pt x="4884918" y="0"/>
                </a:lnTo>
                <a:lnTo>
                  <a:pt x="4884918" y="6857999"/>
                </a:lnTo>
                <a:lnTo>
                  <a:pt x="4884918" y="6858000"/>
                </a:lnTo>
                <a:lnTo>
                  <a:pt x="704817" y="6858000"/>
                </a:lnTo>
                <a:lnTo>
                  <a:pt x="618717" y="6672538"/>
                </a:lnTo>
                <a:cubicBezTo>
                  <a:pt x="501618" y="6400947"/>
                  <a:pt x="398622" y="6121213"/>
                  <a:pt x="309324" y="5833618"/>
                </a:cubicBezTo>
                <a:cubicBezTo>
                  <a:pt x="275071" y="5723183"/>
                  <a:pt x="246125" y="5611225"/>
                  <a:pt x="209850" y="5484180"/>
                </a:cubicBezTo>
                <a:cubicBezTo>
                  <a:pt x="209859" y="5495363"/>
                  <a:pt x="210448" y="5506534"/>
                  <a:pt x="211619" y="5517653"/>
                </a:cubicBezTo>
                <a:cubicBezTo>
                  <a:pt x="261166" y="5727113"/>
                  <a:pt x="303888" y="5938474"/>
                  <a:pt x="361778" y="6145524"/>
                </a:cubicBezTo>
                <a:cubicBezTo>
                  <a:pt x="428356" y="6383258"/>
                  <a:pt x="504422" y="6616111"/>
                  <a:pt x="591356" y="6843306"/>
                </a:cubicBezTo>
                <a:lnTo>
                  <a:pt x="597415" y="6858000"/>
                </a:lnTo>
                <a:lnTo>
                  <a:pt x="545224" y="6858000"/>
                </a:lnTo>
                <a:lnTo>
                  <a:pt x="533604" y="6830072"/>
                </a:lnTo>
                <a:cubicBezTo>
                  <a:pt x="376384" y="6416985"/>
                  <a:pt x="257344" y="5991917"/>
                  <a:pt x="169657" y="5556577"/>
                </a:cubicBezTo>
                <a:cubicBezTo>
                  <a:pt x="90154" y="5162256"/>
                  <a:pt x="43261" y="4763750"/>
                  <a:pt x="12169" y="4362835"/>
                </a:cubicBezTo>
                <a:cubicBezTo>
                  <a:pt x="-14122" y="4019865"/>
                  <a:pt x="4458" y="3679429"/>
                  <a:pt x="46168" y="3338487"/>
                </a:cubicBezTo>
                <a:cubicBezTo>
                  <a:pt x="125796" y="2672248"/>
                  <a:pt x="274744" y="2016203"/>
                  <a:pt x="490574" y="1381078"/>
                </a:cubicBezTo>
                <a:cubicBezTo>
                  <a:pt x="629230" y="976550"/>
                  <a:pt x="791584" y="584320"/>
                  <a:pt x="984701" y="208241"/>
                </a:cubicBezTo>
                <a:close/>
              </a:path>
            </a:pathLst>
          </a:custGeom>
          <a:solidFill>
            <a:schemeClr val="accent1"/>
          </a:solidFill>
          <a:ln w="6857" cap="flat">
            <a:noFill/>
            <a:prstDash val="solid"/>
            <a:miter/>
          </a:ln>
        </p:spPr>
        <p:txBody>
          <a:bodyPr wrap="square" rtlCol="0" anchor="ctr">
            <a:noAutofit/>
          </a:bodyPr>
          <a:lstStyle/>
          <a:p>
            <a:endParaRPr lang="en-US"/>
          </a:p>
        </p:txBody>
      </p:sp>
      <p:sp>
        <p:nvSpPr>
          <p:cNvPr id="3" name="Subtitle 2">
            <a:extLst>
              <a:ext uri="{FF2B5EF4-FFF2-40B4-BE49-F238E27FC236}">
                <a16:creationId xmlns:a16="http://schemas.microsoft.com/office/drawing/2014/main" id="{1048F475-FFDB-4BF0-93B2-1B61BB7BF2AB}"/>
              </a:ext>
            </a:extLst>
          </p:cNvPr>
          <p:cNvSpPr>
            <a:spLocks noGrp="1"/>
          </p:cNvSpPr>
          <p:nvPr>
            <p:ph type="subTitle" idx="1"/>
          </p:nvPr>
        </p:nvSpPr>
        <p:spPr>
          <a:xfrm>
            <a:off x="8129872" y="1122363"/>
            <a:ext cx="3223928" cy="3807446"/>
          </a:xfrm>
        </p:spPr>
        <p:txBody>
          <a:bodyPr anchor="b">
            <a:normAutofit/>
          </a:bodyPr>
          <a:lstStyle/>
          <a:p>
            <a:pPr>
              <a:lnSpc>
                <a:spcPct val="100000"/>
              </a:lnSpc>
            </a:pPr>
            <a:r>
              <a:rPr lang="en-US" sz="3300" dirty="0">
                <a:solidFill>
                  <a:srgbClr val="FFFFFF"/>
                </a:solidFill>
                <a:latin typeface="Amasis MT Pro Black" panose="02040A04050005020304" pitchFamily="18" charset="0"/>
              </a:rPr>
              <a:t>Santhosh Kumar Nanubala</a:t>
            </a:r>
          </a:p>
          <a:p>
            <a:pPr>
              <a:lnSpc>
                <a:spcPct val="100000"/>
              </a:lnSpc>
            </a:pPr>
            <a:r>
              <a:rPr lang="en-US" sz="3300" dirty="0">
                <a:solidFill>
                  <a:srgbClr val="FFFFFF"/>
                </a:solidFill>
                <a:latin typeface="Amasis MT Pro Black" panose="02040A04050005020304" pitchFamily="18" charset="0"/>
              </a:rPr>
              <a:t>SID: 11488046</a:t>
            </a:r>
            <a:br>
              <a:rPr lang="en-US" sz="3300" dirty="0">
                <a:solidFill>
                  <a:srgbClr val="FFFFFF"/>
                </a:solidFill>
                <a:latin typeface="Amasis MT Pro Black" panose="02040A04050005020304" pitchFamily="18" charset="0"/>
              </a:rPr>
            </a:br>
            <a:r>
              <a:rPr lang="en-US" sz="3300" dirty="0">
                <a:solidFill>
                  <a:srgbClr val="FFFFFF"/>
                </a:solidFill>
                <a:latin typeface="Amasis MT Pro Black" panose="02040A04050005020304" pitchFamily="18" charset="0"/>
              </a:rPr>
              <a:t>MSc Data Science and CI</a:t>
            </a:r>
            <a:endParaRPr lang="en-GB" sz="3300" dirty="0">
              <a:solidFill>
                <a:srgbClr val="FFFFFF"/>
              </a:solidFill>
              <a:latin typeface="Amasis MT Pro Black" panose="02040A04050005020304" pitchFamily="18" charset="0"/>
            </a:endParaRPr>
          </a:p>
        </p:txBody>
      </p:sp>
      <p:sp>
        <p:nvSpPr>
          <p:cNvPr id="46" name="Rectangle 6">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180" y="5439978"/>
            <a:ext cx="5897880" cy="27432"/>
          </a:xfrm>
          <a:custGeom>
            <a:avLst/>
            <a:gdLst>
              <a:gd name="connsiteX0" fmla="*/ 0 w 5897880"/>
              <a:gd name="connsiteY0" fmla="*/ 0 h 27432"/>
              <a:gd name="connsiteX1" fmla="*/ 537362 w 5897880"/>
              <a:gd name="connsiteY1" fmla="*/ 0 h 27432"/>
              <a:gd name="connsiteX2" fmla="*/ 1133704 w 5897880"/>
              <a:gd name="connsiteY2" fmla="*/ 0 h 27432"/>
              <a:gd name="connsiteX3" fmla="*/ 1671066 w 5897880"/>
              <a:gd name="connsiteY3" fmla="*/ 0 h 27432"/>
              <a:gd name="connsiteX4" fmla="*/ 2385365 w 5897880"/>
              <a:gd name="connsiteY4" fmla="*/ 0 h 27432"/>
              <a:gd name="connsiteX5" fmla="*/ 3040685 w 5897880"/>
              <a:gd name="connsiteY5" fmla="*/ 0 h 27432"/>
              <a:gd name="connsiteX6" fmla="*/ 3696005 w 5897880"/>
              <a:gd name="connsiteY6" fmla="*/ 0 h 27432"/>
              <a:gd name="connsiteX7" fmla="*/ 4469282 w 5897880"/>
              <a:gd name="connsiteY7" fmla="*/ 0 h 27432"/>
              <a:gd name="connsiteX8" fmla="*/ 5183581 w 5897880"/>
              <a:gd name="connsiteY8" fmla="*/ 0 h 27432"/>
              <a:gd name="connsiteX9" fmla="*/ 5897880 w 5897880"/>
              <a:gd name="connsiteY9" fmla="*/ 0 h 27432"/>
              <a:gd name="connsiteX10" fmla="*/ 5897880 w 5897880"/>
              <a:gd name="connsiteY10" fmla="*/ 27432 h 27432"/>
              <a:gd name="connsiteX11" fmla="*/ 5419496 w 5897880"/>
              <a:gd name="connsiteY11" fmla="*/ 27432 h 27432"/>
              <a:gd name="connsiteX12" fmla="*/ 4882134 w 5897880"/>
              <a:gd name="connsiteY12" fmla="*/ 27432 h 27432"/>
              <a:gd name="connsiteX13" fmla="*/ 4167835 w 5897880"/>
              <a:gd name="connsiteY13" fmla="*/ 27432 h 27432"/>
              <a:gd name="connsiteX14" fmla="*/ 3394558 w 5897880"/>
              <a:gd name="connsiteY14" fmla="*/ 27432 h 27432"/>
              <a:gd name="connsiteX15" fmla="*/ 2798216 w 5897880"/>
              <a:gd name="connsiteY15" fmla="*/ 27432 h 27432"/>
              <a:gd name="connsiteX16" fmla="*/ 2024939 w 5897880"/>
              <a:gd name="connsiteY16" fmla="*/ 27432 h 27432"/>
              <a:gd name="connsiteX17" fmla="*/ 1487576 w 5897880"/>
              <a:gd name="connsiteY17" fmla="*/ 27432 h 27432"/>
              <a:gd name="connsiteX18" fmla="*/ 1009193 w 5897880"/>
              <a:gd name="connsiteY18" fmla="*/ 27432 h 27432"/>
              <a:gd name="connsiteX19" fmla="*/ 0 w 5897880"/>
              <a:gd name="connsiteY19" fmla="*/ 27432 h 27432"/>
              <a:gd name="connsiteX20" fmla="*/ 0 w 5897880"/>
              <a:gd name="connsiteY20"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897880" h="27432" fill="none" extrusionOk="0">
                <a:moveTo>
                  <a:pt x="0" y="0"/>
                </a:moveTo>
                <a:cubicBezTo>
                  <a:pt x="232564" y="21549"/>
                  <a:pt x="389747" y="7320"/>
                  <a:pt x="537362" y="0"/>
                </a:cubicBezTo>
                <a:cubicBezTo>
                  <a:pt x="684977" y="-7320"/>
                  <a:pt x="894159" y="-7726"/>
                  <a:pt x="1133704" y="0"/>
                </a:cubicBezTo>
                <a:cubicBezTo>
                  <a:pt x="1373249" y="7726"/>
                  <a:pt x="1440352" y="-304"/>
                  <a:pt x="1671066" y="0"/>
                </a:cubicBezTo>
                <a:cubicBezTo>
                  <a:pt x="1901780" y="304"/>
                  <a:pt x="2091497" y="765"/>
                  <a:pt x="2385365" y="0"/>
                </a:cubicBezTo>
                <a:cubicBezTo>
                  <a:pt x="2679233" y="-765"/>
                  <a:pt x="2762926" y="2802"/>
                  <a:pt x="3040685" y="0"/>
                </a:cubicBezTo>
                <a:cubicBezTo>
                  <a:pt x="3318444" y="-2802"/>
                  <a:pt x="3409726" y="9093"/>
                  <a:pt x="3696005" y="0"/>
                </a:cubicBezTo>
                <a:cubicBezTo>
                  <a:pt x="3982284" y="-9093"/>
                  <a:pt x="4087272" y="27119"/>
                  <a:pt x="4469282" y="0"/>
                </a:cubicBezTo>
                <a:cubicBezTo>
                  <a:pt x="4851292" y="-27119"/>
                  <a:pt x="4924835" y="26473"/>
                  <a:pt x="5183581" y="0"/>
                </a:cubicBezTo>
                <a:cubicBezTo>
                  <a:pt x="5442327" y="-26473"/>
                  <a:pt x="5598463" y="7328"/>
                  <a:pt x="5897880" y="0"/>
                </a:cubicBezTo>
                <a:cubicBezTo>
                  <a:pt x="5898716" y="13055"/>
                  <a:pt x="5897707" y="18641"/>
                  <a:pt x="5897880" y="27432"/>
                </a:cubicBezTo>
                <a:cubicBezTo>
                  <a:pt x="5682742" y="40412"/>
                  <a:pt x="5520014" y="23844"/>
                  <a:pt x="5419496" y="27432"/>
                </a:cubicBezTo>
                <a:cubicBezTo>
                  <a:pt x="5318978" y="31020"/>
                  <a:pt x="5012864" y="6698"/>
                  <a:pt x="4882134" y="27432"/>
                </a:cubicBezTo>
                <a:cubicBezTo>
                  <a:pt x="4751404" y="48166"/>
                  <a:pt x="4313676" y="5207"/>
                  <a:pt x="4167835" y="27432"/>
                </a:cubicBezTo>
                <a:cubicBezTo>
                  <a:pt x="4021994" y="49657"/>
                  <a:pt x="3715729" y="59193"/>
                  <a:pt x="3394558" y="27432"/>
                </a:cubicBezTo>
                <a:cubicBezTo>
                  <a:pt x="3073387" y="-4329"/>
                  <a:pt x="3093227" y="38972"/>
                  <a:pt x="2798216" y="27432"/>
                </a:cubicBezTo>
                <a:cubicBezTo>
                  <a:pt x="2503205" y="15892"/>
                  <a:pt x="2297615" y="31603"/>
                  <a:pt x="2024939" y="27432"/>
                </a:cubicBezTo>
                <a:cubicBezTo>
                  <a:pt x="1752263" y="23261"/>
                  <a:pt x="1629814" y="3659"/>
                  <a:pt x="1487576" y="27432"/>
                </a:cubicBezTo>
                <a:cubicBezTo>
                  <a:pt x="1345338" y="51205"/>
                  <a:pt x="1238885" y="24954"/>
                  <a:pt x="1009193" y="27432"/>
                </a:cubicBezTo>
                <a:cubicBezTo>
                  <a:pt x="779501" y="29910"/>
                  <a:pt x="441829" y="-15535"/>
                  <a:pt x="0" y="27432"/>
                </a:cubicBezTo>
                <a:cubicBezTo>
                  <a:pt x="988" y="17221"/>
                  <a:pt x="-970" y="7538"/>
                  <a:pt x="0" y="0"/>
                </a:cubicBezTo>
                <a:close/>
              </a:path>
              <a:path w="5897880" h="27432" stroke="0" extrusionOk="0">
                <a:moveTo>
                  <a:pt x="0" y="0"/>
                </a:moveTo>
                <a:cubicBezTo>
                  <a:pt x="196299" y="-26676"/>
                  <a:pt x="463834" y="6738"/>
                  <a:pt x="596341" y="0"/>
                </a:cubicBezTo>
                <a:cubicBezTo>
                  <a:pt x="728848" y="-6738"/>
                  <a:pt x="857267" y="1845"/>
                  <a:pt x="1074725" y="0"/>
                </a:cubicBezTo>
                <a:cubicBezTo>
                  <a:pt x="1292183" y="-1845"/>
                  <a:pt x="1545672" y="3744"/>
                  <a:pt x="1848002" y="0"/>
                </a:cubicBezTo>
                <a:cubicBezTo>
                  <a:pt x="2150332" y="-3744"/>
                  <a:pt x="2306688" y="-14526"/>
                  <a:pt x="2444344" y="0"/>
                </a:cubicBezTo>
                <a:cubicBezTo>
                  <a:pt x="2582000" y="14526"/>
                  <a:pt x="2761095" y="-11862"/>
                  <a:pt x="3040685" y="0"/>
                </a:cubicBezTo>
                <a:cubicBezTo>
                  <a:pt x="3320275" y="11862"/>
                  <a:pt x="3622320" y="-32867"/>
                  <a:pt x="3813962" y="0"/>
                </a:cubicBezTo>
                <a:cubicBezTo>
                  <a:pt x="4005604" y="32867"/>
                  <a:pt x="4117810" y="-10778"/>
                  <a:pt x="4351325" y="0"/>
                </a:cubicBezTo>
                <a:cubicBezTo>
                  <a:pt x="4584840" y="10778"/>
                  <a:pt x="4963783" y="-32384"/>
                  <a:pt x="5124602" y="0"/>
                </a:cubicBezTo>
                <a:cubicBezTo>
                  <a:pt x="5285421" y="32384"/>
                  <a:pt x="5705238" y="-29538"/>
                  <a:pt x="5897880" y="0"/>
                </a:cubicBezTo>
                <a:cubicBezTo>
                  <a:pt x="5898677" y="11634"/>
                  <a:pt x="5899083" y="16994"/>
                  <a:pt x="5897880" y="27432"/>
                </a:cubicBezTo>
                <a:cubicBezTo>
                  <a:pt x="5630425" y="7719"/>
                  <a:pt x="5532865" y="21388"/>
                  <a:pt x="5242560" y="27432"/>
                </a:cubicBezTo>
                <a:cubicBezTo>
                  <a:pt x="4952255" y="33476"/>
                  <a:pt x="4783060" y="14892"/>
                  <a:pt x="4646219" y="27432"/>
                </a:cubicBezTo>
                <a:cubicBezTo>
                  <a:pt x="4509378" y="39972"/>
                  <a:pt x="4163771" y="-4851"/>
                  <a:pt x="3872941" y="27432"/>
                </a:cubicBezTo>
                <a:cubicBezTo>
                  <a:pt x="3582111" y="59715"/>
                  <a:pt x="3362704" y="7742"/>
                  <a:pt x="3099664" y="27432"/>
                </a:cubicBezTo>
                <a:cubicBezTo>
                  <a:pt x="2836624" y="47122"/>
                  <a:pt x="2747441" y="28801"/>
                  <a:pt x="2562301" y="27432"/>
                </a:cubicBezTo>
                <a:cubicBezTo>
                  <a:pt x="2377161" y="26063"/>
                  <a:pt x="2104946" y="30879"/>
                  <a:pt x="1906981" y="27432"/>
                </a:cubicBezTo>
                <a:cubicBezTo>
                  <a:pt x="1709016" y="23985"/>
                  <a:pt x="1304654" y="6821"/>
                  <a:pt x="1133704" y="27432"/>
                </a:cubicBezTo>
                <a:cubicBezTo>
                  <a:pt x="962754" y="48043"/>
                  <a:pt x="457048" y="12129"/>
                  <a:pt x="0" y="27432"/>
                </a:cubicBezTo>
                <a:cubicBezTo>
                  <a:pt x="894" y="14250"/>
                  <a:pt x="667" y="11053"/>
                  <a:pt x="0" y="0"/>
                </a:cubicBezTo>
                <a:close/>
              </a:path>
            </a:pathLst>
          </a:custGeom>
          <a:solidFill>
            <a:schemeClr val="accent1"/>
          </a:solidFill>
          <a:ln w="41275"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6">
            <a:extLst>
              <a:ext uri="{FF2B5EF4-FFF2-40B4-BE49-F238E27FC236}">
                <a16:creationId xmlns:a16="http://schemas.microsoft.com/office/drawing/2014/main" id="{53BEA983-EAAB-42FB-84E9-E77708168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016" y="5440680"/>
            <a:ext cx="3200400" cy="27432"/>
          </a:xfrm>
          <a:custGeom>
            <a:avLst/>
            <a:gdLst>
              <a:gd name="connsiteX0" fmla="*/ 0 w 3200400"/>
              <a:gd name="connsiteY0" fmla="*/ 0 h 27432"/>
              <a:gd name="connsiteX1" fmla="*/ 608076 w 3200400"/>
              <a:gd name="connsiteY1" fmla="*/ 0 h 27432"/>
              <a:gd name="connsiteX2" fmla="*/ 1248156 w 3200400"/>
              <a:gd name="connsiteY2" fmla="*/ 0 h 27432"/>
              <a:gd name="connsiteX3" fmla="*/ 1920240 w 3200400"/>
              <a:gd name="connsiteY3" fmla="*/ 0 h 27432"/>
              <a:gd name="connsiteX4" fmla="*/ 2592324 w 3200400"/>
              <a:gd name="connsiteY4" fmla="*/ 0 h 27432"/>
              <a:gd name="connsiteX5" fmla="*/ 3200400 w 3200400"/>
              <a:gd name="connsiteY5" fmla="*/ 0 h 27432"/>
              <a:gd name="connsiteX6" fmla="*/ 3200400 w 3200400"/>
              <a:gd name="connsiteY6" fmla="*/ 27432 h 27432"/>
              <a:gd name="connsiteX7" fmla="*/ 2496312 w 3200400"/>
              <a:gd name="connsiteY7" fmla="*/ 27432 h 27432"/>
              <a:gd name="connsiteX8" fmla="*/ 1792224 w 3200400"/>
              <a:gd name="connsiteY8" fmla="*/ 27432 h 27432"/>
              <a:gd name="connsiteX9" fmla="*/ 1152144 w 3200400"/>
              <a:gd name="connsiteY9" fmla="*/ 27432 h 27432"/>
              <a:gd name="connsiteX10" fmla="*/ 0 w 3200400"/>
              <a:gd name="connsiteY10" fmla="*/ 27432 h 27432"/>
              <a:gd name="connsiteX11" fmla="*/ 0 w 3200400"/>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00400" h="27432" fill="none" extrusionOk="0">
                <a:moveTo>
                  <a:pt x="0" y="0"/>
                </a:moveTo>
                <a:cubicBezTo>
                  <a:pt x="176560" y="-17034"/>
                  <a:pt x="345323" y="-28956"/>
                  <a:pt x="608076" y="0"/>
                </a:cubicBezTo>
                <a:cubicBezTo>
                  <a:pt x="870829" y="28956"/>
                  <a:pt x="955637" y="-27357"/>
                  <a:pt x="1248156" y="0"/>
                </a:cubicBezTo>
                <a:cubicBezTo>
                  <a:pt x="1540675" y="27357"/>
                  <a:pt x="1624069" y="30558"/>
                  <a:pt x="1920240" y="0"/>
                </a:cubicBezTo>
                <a:cubicBezTo>
                  <a:pt x="2216411" y="-30558"/>
                  <a:pt x="2344585" y="12271"/>
                  <a:pt x="2592324" y="0"/>
                </a:cubicBezTo>
                <a:cubicBezTo>
                  <a:pt x="2840063" y="-12271"/>
                  <a:pt x="2987913" y="7129"/>
                  <a:pt x="3200400" y="0"/>
                </a:cubicBezTo>
                <a:cubicBezTo>
                  <a:pt x="3199234" y="7395"/>
                  <a:pt x="3200445" y="21864"/>
                  <a:pt x="3200400" y="27432"/>
                </a:cubicBezTo>
                <a:cubicBezTo>
                  <a:pt x="2991642" y="45977"/>
                  <a:pt x="2778729" y="1200"/>
                  <a:pt x="2496312" y="27432"/>
                </a:cubicBezTo>
                <a:cubicBezTo>
                  <a:pt x="2213895" y="53664"/>
                  <a:pt x="2080041" y="8460"/>
                  <a:pt x="1792224" y="27432"/>
                </a:cubicBezTo>
                <a:cubicBezTo>
                  <a:pt x="1504407" y="46404"/>
                  <a:pt x="1357364" y="6320"/>
                  <a:pt x="1152144" y="27432"/>
                </a:cubicBezTo>
                <a:cubicBezTo>
                  <a:pt x="946924" y="48544"/>
                  <a:pt x="515176" y="61411"/>
                  <a:pt x="0" y="27432"/>
                </a:cubicBezTo>
                <a:cubicBezTo>
                  <a:pt x="-503" y="20663"/>
                  <a:pt x="1168" y="5855"/>
                  <a:pt x="0" y="0"/>
                </a:cubicBezTo>
                <a:close/>
              </a:path>
              <a:path w="3200400" h="27432" stroke="0" extrusionOk="0">
                <a:moveTo>
                  <a:pt x="0" y="0"/>
                </a:moveTo>
                <a:cubicBezTo>
                  <a:pt x="273892" y="-2049"/>
                  <a:pt x="368520" y="4190"/>
                  <a:pt x="608076" y="0"/>
                </a:cubicBezTo>
                <a:cubicBezTo>
                  <a:pt x="847632" y="-4190"/>
                  <a:pt x="971999" y="7437"/>
                  <a:pt x="1152144" y="0"/>
                </a:cubicBezTo>
                <a:cubicBezTo>
                  <a:pt x="1332289" y="-7437"/>
                  <a:pt x="1665848" y="24107"/>
                  <a:pt x="1856232" y="0"/>
                </a:cubicBezTo>
                <a:cubicBezTo>
                  <a:pt x="2046616" y="-24107"/>
                  <a:pt x="2167965" y="18079"/>
                  <a:pt x="2464308" y="0"/>
                </a:cubicBezTo>
                <a:cubicBezTo>
                  <a:pt x="2760651" y="-18079"/>
                  <a:pt x="2877599" y="28161"/>
                  <a:pt x="3200400" y="0"/>
                </a:cubicBezTo>
                <a:cubicBezTo>
                  <a:pt x="3200593" y="12649"/>
                  <a:pt x="3199412" y="17989"/>
                  <a:pt x="3200400" y="27432"/>
                </a:cubicBezTo>
                <a:cubicBezTo>
                  <a:pt x="2978255" y="22115"/>
                  <a:pt x="2854979" y="18349"/>
                  <a:pt x="2560320" y="27432"/>
                </a:cubicBezTo>
                <a:cubicBezTo>
                  <a:pt x="2265661" y="36515"/>
                  <a:pt x="2043241" y="2929"/>
                  <a:pt x="1856232" y="27432"/>
                </a:cubicBezTo>
                <a:cubicBezTo>
                  <a:pt x="1669223" y="51935"/>
                  <a:pt x="1428863" y="5228"/>
                  <a:pt x="1312164" y="27432"/>
                </a:cubicBezTo>
                <a:cubicBezTo>
                  <a:pt x="1195465" y="49636"/>
                  <a:pt x="838125" y="31438"/>
                  <a:pt x="672084" y="27432"/>
                </a:cubicBezTo>
                <a:cubicBezTo>
                  <a:pt x="506043" y="23426"/>
                  <a:pt x="200317" y="-1243"/>
                  <a:pt x="0" y="27432"/>
                </a:cubicBezTo>
                <a:cubicBezTo>
                  <a:pt x="1300" y="19678"/>
                  <a:pt x="-86" y="12044"/>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599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0B7A7350-8EB8-4A72-961C-2ADD9EF2A0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008" y="0"/>
            <a:ext cx="10075984" cy="6858000"/>
          </a:xfrm>
          <a:prstGeom prst="rect">
            <a:avLst/>
          </a:prstGeom>
        </p:spPr>
      </p:pic>
    </p:spTree>
    <p:extLst>
      <p:ext uri="{BB962C8B-B14F-4D97-AF65-F5344CB8AC3E}">
        <p14:creationId xmlns:p14="http://schemas.microsoft.com/office/powerpoint/2010/main" val="121078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DDBA1D-C921-404C-819F-0214795FCFF2}"/>
              </a:ext>
            </a:extLst>
          </p:cNvPr>
          <p:cNvSpPr>
            <a:spLocks noGrp="1"/>
          </p:cNvSpPr>
          <p:nvPr>
            <p:ph type="title"/>
          </p:nvPr>
        </p:nvSpPr>
        <p:spPr>
          <a:xfrm>
            <a:off x="576072" y="238539"/>
            <a:ext cx="11018520" cy="1434415"/>
          </a:xfrm>
        </p:spPr>
        <p:txBody>
          <a:bodyPr anchor="b">
            <a:normAutofit/>
          </a:bodyPr>
          <a:lstStyle/>
          <a:p>
            <a:r>
              <a:rPr lang="en-US" sz="7200">
                <a:latin typeface="Amasis MT Pro Black" panose="020B0604020202020204" pitchFamily="18" charset="0"/>
                <a:cs typeface="Times New Roman" panose="02020603050405020304" pitchFamily="18" charset="0"/>
              </a:rPr>
              <a:t>Outline</a:t>
            </a:r>
            <a:endParaRPr lang="en-GB" sz="7200">
              <a:latin typeface="Amasis MT Pro Black" panose="020B0604020202020204" pitchFamily="18" charset="0"/>
              <a:cs typeface="Times New Roman" panose="02020603050405020304" pitchFamily="18" charset="0"/>
            </a:endParaRPr>
          </a:p>
        </p:txBody>
      </p:sp>
      <p:sp>
        <p:nvSpPr>
          <p:cNvPr id="60"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6072" y="1817073"/>
            <a:ext cx="11018520" cy="18288"/>
          </a:xfrm>
          <a:custGeom>
            <a:avLst/>
            <a:gdLst>
              <a:gd name="connsiteX0" fmla="*/ 0 w 11018520"/>
              <a:gd name="connsiteY0" fmla="*/ 0 h 18288"/>
              <a:gd name="connsiteX1" fmla="*/ 468287 w 11018520"/>
              <a:gd name="connsiteY1" fmla="*/ 0 h 18288"/>
              <a:gd name="connsiteX2" fmla="*/ 1156945 w 11018520"/>
              <a:gd name="connsiteY2" fmla="*/ 0 h 18288"/>
              <a:gd name="connsiteX3" fmla="*/ 1955787 w 11018520"/>
              <a:gd name="connsiteY3" fmla="*/ 0 h 18288"/>
              <a:gd name="connsiteX4" fmla="*/ 2313889 w 11018520"/>
              <a:gd name="connsiteY4" fmla="*/ 0 h 18288"/>
              <a:gd name="connsiteX5" fmla="*/ 2671991 w 11018520"/>
              <a:gd name="connsiteY5" fmla="*/ 0 h 18288"/>
              <a:gd name="connsiteX6" fmla="*/ 3581019 w 11018520"/>
              <a:gd name="connsiteY6" fmla="*/ 0 h 18288"/>
              <a:gd name="connsiteX7" fmla="*/ 4269677 w 11018520"/>
              <a:gd name="connsiteY7" fmla="*/ 0 h 18288"/>
              <a:gd name="connsiteX8" fmla="*/ 4627778 w 11018520"/>
              <a:gd name="connsiteY8" fmla="*/ 0 h 18288"/>
              <a:gd name="connsiteX9" fmla="*/ 5316436 w 11018520"/>
              <a:gd name="connsiteY9" fmla="*/ 0 h 18288"/>
              <a:gd name="connsiteX10" fmla="*/ 6225464 w 11018520"/>
              <a:gd name="connsiteY10" fmla="*/ 0 h 18288"/>
              <a:gd name="connsiteX11" fmla="*/ 6803936 w 11018520"/>
              <a:gd name="connsiteY11" fmla="*/ 0 h 18288"/>
              <a:gd name="connsiteX12" fmla="*/ 7382408 w 11018520"/>
              <a:gd name="connsiteY12" fmla="*/ 0 h 18288"/>
              <a:gd name="connsiteX13" fmla="*/ 8071066 w 11018520"/>
              <a:gd name="connsiteY13" fmla="*/ 0 h 18288"/>
              <a:gd name="connsiteX14" fmla="*/ 8869909 w 11018520"/>
              <a:gd name="connsiteY14" fmla="*/ 0 h 18288"/>
              <a:gd name="connsiteX15" fmla="*/ 9668751 w 11018520"/>
              <a:gd name="connsiteY15" fmla="*/ 0 h 18288"/>
              <a:gd name="connsiteX16" fmla="*/ 11018520 w 11018520"/>
              <a:gd name="connsiteY16" fmla="*/ 0 h 18288"/>
              <a:gd name="connsiteX17" fmla="*/ 11018520 w 11018520"/>
              <a:gd name="connsiteY17" fmla="*/ 18288 h 18288"/>
              <a:gd name="connsiteX18" fmla="*/ 10550233 w 11018520"/>
              <a:gd name="connsiteY18" fmla="*/ 18288 h 18288"/>
              <a:gd name="connsiteX19" fmla="*/ 9641205 w 11018520"/>
              <a:gd name="connsiteY19" fmla="*/ 18288 h 18288"/>
              <a:gd name="connsiteX20" fmla="*/ 8952548 w 11018520"/>
              <a:gd name="connsiteY20" fmla="*/ 18288 h 18288"/>
              <a:gd name="connsiteX21" fmla="*/ 8594446 w 11018520"/>
              <a:gd name="connsiteY21" fmla="*/ 18288 h 18288"/>
              <a:gd name="connsiteX22" fmla="*/ 7905788 w 11018520"/>
              <a:gd name="connsiteY22" fmla="*/ 18288 h 18288"/>
              <a:gd name="connsiteX23" fmla="*/ 7327316 w 11018520"/>
              <a:gd name="connsiteY23" fmla="*/ 18288 h 18288"/>
              <a:gd name="connsiteX24" fmla="*/ 6748844 w 11018520"/>
              <a:gd name="connsiteY24" fmla="*/ 18288 h 18288"/>
              <a:gd name="connsiteX25" fmla="*/ 6170371 w 11018520"/>
              <a:gd name="connsiteY25" fmla="*/ 18288 h 18288"/>
              <a:gd name="connsiteX26" fmla="*/ 5591899 w 11018520"/>
              <a:gd name="connsiteY26" fmla="*/ 18288 h 18288"/>
              <a:gd name="connsiteX27" fmla="*/ 4793056 w 11018520"/>
              <a:gd name="connsiteY27" fmla="*/ 18288 h 18288"/>
              <a:gd name="connsiteX28" fmla="*/ 4104399 w 11018520"/>
              <a:gd name="connsiteY28" fmla="*/ 18288 h 18288"/>
              <a:gd name="connsiteX29" fmla="*/ 3746297 w 11018520"/>
              <a:gd name="connsiteY29" fmla="*/ 18288 h 18288"/>
              <a:gd name="connsiteX30" fmla="*/ 3167825 w 11018520"/>
              <a:gd name="connsiteY30" fmla="*/ 18288 h 18288"/>
              <a:gd name="connsiteX31" fmla="*/ 2368982 w 11018520"/>
              <a:gd name="connsiteY31" fmla="*/ 18288 h 18288"/>
              <a:gd name="connsiteX32" fmla="*/ 1900695 w 11018520"/>
              <a:gd name="connsiteY32" fmla="*/ 18288 h 18288"/>
              <a:gd name="connsiteX33" fmla="*/ 991667 w 11018520"/>
              <a:gd name="connsiteY33" fmla="*/ 18288 h 18288"/>
              <a:gd name="connsiteX34" fmla="*/ 0 w 11018520"/>
              <a:gd name="connsiteY34" fmla="*/ 18288 h 18288"/>
              <a:gd name="connsiteX35" fmla="*/ 0 w 11018520"/>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18520" h="18288" fill="none" extrusionOk="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w="11018520" h="18288" stroke="0" extrusionOk="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D4A04E"/>
          </a:solidFill>
          <a:ln w="38100" cap="rnd">
            <a:solidFill>
              <a:srgbClr val="D4A04E"/>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F643D3-9021-44B9-955C-C352F97B133B}"/>
              </a:ext>
            </a:extLst>
          </p:cNvPr>
          <p:cNvSpPr>
            <a:spLocks noGrp="1"/>
          </p:cNvSpPr>
          <p:nvPr>
            <p:ph idx="1"/>
          </p:nvPr>
        </p:nvSpPr>
        <p:spPr>
          <a:xfrm>
            <a:off x="572493" y="2071316"/>
            <a:ext cx="11018520" cy="4713532"/>
          </a:xfrm>
        </p:spPr>
        <p:txBody>
          <a:bodyPr anchor="t">
            <a:noAutofit/>
          </a:bodyPr>
          <a:lstStyle/>
          <a:p>
            <a:pPr>
              <a:lnSpc>
                <a:spcPct val="100000"/>
              </a:lnSpc>
            </a:pPr>
            <a:r>
              <a:rPr lang="en-GB" sz="2000" dirty="0">
                <a:latin typeface="Times New Roman" panose="02020603050405020304" pitchFamily="18" charset="0"/>
                <a:cs typeface="Times New Roman" panose="02020603050405020304" pitchFamily="18" charset="0"/>
              </a:rPr>
              <a:t>Introduction</a:t>
            </a:r>
          </a:p>
          <a:p>
            <a:pPr>
              <a:lnSpc>
                <a:spcPct val="100000"/>
              </a:lnSpc>
            </a:pPr>
            <a:r>
              <a:rPr lang="en-GB" sz="2000" dirty="0">
                <a:latin typeface="Times New Roman" panose="02020603050405020304" pitchFamily="18" charset="0"/>
                <a:cs typeface="Times New Roman" panose="02020603050405020304" pitchFamily="18" charset="0"/>
              </a:rPr>
              <a:t>Research Question &amp; Aim and Objectives</a:t>
            </a:r>
          </a:p>
          <a:p>
            <a:pPr>
              <a:lnSpc>
                <a:spcPct val="100000"/>
              </a:lnSpc>
            </a:pPr>
            <a:r>
              <a:rPr lang="en-GB" sz="2000" dirty="0">
                <a:latin typeface="Times New Roman" panose="02020603050405020304" pitchFamily="18" charset="0"/>
                <a:cs typeface="Times New Roman" panose="02020603050405020304" pitchFamily="18" charset="0"/>
              </a:rPr>
              <a:t>Problem Statement &amp; Topic for Investigation</a:t>
            </a:r>
          </a:p>
          <a:p>
            <a:pPr>
              <a:lnSpc>
                <a:spcPct val="100000"/>
              </a:lnSpc>
            </a:pPr>
            <a:r>
              <a:rPr lang="en-GB" sz="2000" dirty="0">
                <a:latin typeface="Times New Roman" panose="02020603050405020304" pitchFamily="18" charset="0"/>
                <a:cs typeface="Times New Roman" panose="02020603050405020304" pitchFamily="18" charset="0"/>
              </a:rPr>
              <a:t>Intended Users</a:t>
            </a:r>
          </a:p>
          <a:p>
            <a:pPr>
              <a:lnSpc>
                <a:spcPct val="100000"/>
              </a:lnSpc>
            </a:pPr>
            <a:r>
              <a:rPr lang="en-GB" sz="2000" dirty="0">
                <a:latin typeface="Times New Roman" panose="02020603050405020304" pitchFamily="18" charset="0"/>
                <a:cs typeface="Times New Roman" panose="02020603050405020304" pitchFamily="18" charset="0"/>
              </a:rPr>
              <a:t>Literature Review</a:t>
            </a:r>
          </a:p>
          <a:p>
            <a:pPr>
              <a:lnSpc>
                <a:spcPct val="100000"/>
              </a:lnSpc>
            </a:pPr>
            <a:r>
              <a:rPr lang="en-GB" sz="2000" dirty="0">
                <a:latin typeface="Times New Roman" panose="02020603050405020304" pitchFamily="18" charset="0"/>
                <a:cs typeface="Times New Roman" panose="02020603050405020304" pitchFamily="18" charset="0"/>
              </a:rPr>
              <a:t>Gantt Chart</a:t>
            </a:r>
          </a:p>
          <a:p>
            <a:pPr>
              <a:lnSpc>
                <a:spcPct val="100000"/>
              </a:lnSpc>
            </a:pPr>
            <a:r>
              <a:rPr lang="en-GB" sz="2000" dirty="0">
                <a:latin typeface="Times New Roman" panose="02020603050405020304" pitchFamily="18" charset="0"/>
                <a:cs typeface="Times New Roman" panose="02020603050405020304" pitchFamily="18" charset="0"/>
              </a:rPr>
              <a:t>Design &amp; Methodology</a:t>
            </a:r>
          </a:p>
          <a:p>
            <a:pPr>
              <a:lnSpc>
                <a:spcPct val="100000"/>
              </a:lnSpc>
            </a:pPr>
            <a:r>
              <a:rPr lang="en-GB" sz="2000" dirty="0">
                <a:latin typeface="Times New Roman" panose="02020603050405020304" pitchFamily="18" charset="0"/>
                <a:cs typeface="Times New Roman" panose="02020603050405020304" pitchFamily="18" charset="0"/>
              </a:rPr>
              <a:t>Implementation</a:t>
            </a:r>
          </a:p>
          <a:p>
            <a:pPr>
              <a:lnSpc>
                <a:spcPct val="100000"/>
              </a:lnSpc>
            </a:pPr>
            <a:r>
              <a:rPr lang="en-GB" sz="2000" dirty="0">
                <a:latin typeface="Times New Roman" panose="02020603050405020304" pitchFamily="18" charset="0"/>
                <a:cs typeface="Times New Roman" panose="02020603050405020304" pitchFamily="18" charset="0"/>
              </a:rPr>
              <a:t>Results and Summary</a:t>
            </a:r>
          </a:p>
          <a:p>
            <a:pPr>
              <a:lnSpc>
                <a:spcPct val="100000"/>
              </a:lnSpc>
            </a:pPr>
            <a:r>
              <a:rPr lang="en-GB" sz="20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21475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B718A1-403D-40B0-BFBB-0236BAB42B37}"/>
              </a:ext>
            </a:extLst>
          </p:cNvPr>
          <p:cNvSpPr>
            <a:spLocks noGrp="1"/>
          </p:cNvSpPr>
          <p:nvPr>
            <p:ph type="title"/>
          </p:nvPr>
        </p:nvSpPr>
        <p:spPr>
          <a:xfrm>
            <a:off x="838200" y="365125"/>
            <a:ext cx="10515600" cy="1325563"/>
          </a:xfrm>
        </p:spPr>
        <p:txBody>
          <a:bodyPr>
            <a:noAutofit/>
          </a:bodyPr>
          <a:lstStyle/>
          <a:p>
            <a:pPr>
              <a:lnSpc>
                <a:spcPct val="90000"/>
              </a:lnSpc>
            </a:pPr>
            <a:r>
              <a:rPr lang="en-US" sz="3200" dirty="0">
                <a:latin typeface="Amasis MT Pro Black" panose="02040A04050005020304" pitchFamily="18" charset="0"/>
              </a:rPr>
              <a:t>What is social &amp; emotional Learning and why is it important?</a:t>
            </a:r>
            <a:br>
              <a:rPr lang="en-US" sz="3200" dirty="0">
                <a:latin typeface="Amasis MT Pro Black" panose="02040A04050005020304" pitchFamily="18" charset="0"/>
              </a:rPr>
            </a:br>
            <a:endParaRPr lang="en-GB" sz="3200" dirty="0">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4950B0DD-BBBA-4210-904C-64F81CFD05DC}"/>
              </a:ext>
            </a:extLst>
          </p:cNvPr>
          <p:cNvSpPr>
            <a:spLocks noGrp="1"/>
          </p:cNvSpPr>
          <p:nvPr>
            <p:ph idx="1"/>
          </p:nvPr>
        </p:nvSpPr>
        <p:spPr>
          <a:xfrm>
            <a:off x="838200" y="1929384"/>
            <a:ext cx="10515600" cy="4251960"/>
          </a:xfrm>
        </p:spPr>
        <p:txBody>
          <a:bodyPr>
            <a:normAutofit/>
          </a:bodyPr>
          <a:lstStyle/>
          <a:p>
            <a:pPr algn="just">
              <a:lnSpc>
                <a:spcPct val="100000"/>
              </a:lnSpc>
            </a:pPr>
            <a:r>
              <a:rPr lang="en-US" sz="2400" dirty="0">
                <a:latin typeface="Times New Roman" panose="02020603050405020304" pitchFamily="18" charset="0"/>
                <a:cs typeface="Times New Roman" panose="02020603050405020304" pitchFamily="18" charset="0"/>
              </a:rPr>
              <a:t>Social-emotional learning (SEL) is a form of learning that incorporates social and emotional skills into the curriculum. It is a crucial component of the education system and social evolution. SEL is the process by which all teenagers and grown ups obtain and implement the wisdom, abilities, and perceptions needed to construct healthy personalities, express feelings, accomplish self and social aspirations, perceive and feel compassion for others, build lasting positive interactions, and end up making respectful and trustworthy choices.</a:t>
            </a:r>
          </a:p>
          <a:p>
            <a:pPr algn="just">
              <a:lnSpc>
                <a:spcPct val="100000"/>
              </a:lnSpc>
            </a:pPr>
            <a:r>
              <a:rPr lang="en-US" sz="2400" dirty="0">
                <a:latin typeface="Times New Roman" panose="02020603050405020304" pitchFamily="18" charset="0"/>
                <a:cs typeface="Times New Roman" panose="02020603050405020304" pitchFamily="18" charset="0"/>
              </a:rPr>
              <a:t>Both youngsters and grownups benefit from SEL, which increases self-awareness, academic achievement, and prosocial feelings within and beyond the curriculum. Academically, learners who engaged in SEL programs improved their total marks by 11 percentage points and had higher punctuality.</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2256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D8E96C-4E5E-494E-957D-CA8A38C2E96E}"/>
              </a:ext>
            </a:extLst>
          </p:cNvPr>
          <p:cNvSpPr>
            <a:spLocks noGrp="1"/>
          </p:cNvSpPr>
          <p:nvPr>
            <p:ph type="title"/>
          </p:nvPr>
        </p:nvSpPr>
        <p:spPr>
          <a:xfrm>
            <a:off x="838200" y="365125"/>
            <a:ext cx="10515600" cy="1325563"/>
          </a:xfrm>
        </p:spPr>
        <p:txBody>
          <a:bodyPr>
            <a:normAutofit/>
          </a:bodyPr>
          <a:lstStyle/>
          <a:p>
            <a:pPr>
              <a:lnSpc>
                <a:spcPct val="100000"/>
              </a:lnSpc>
            </a:pPr>
            <a:r>
              <a:rPr lang="en-GB" sz="4000" dirty="0">
                <a:latin typeface="Amasis MT Pro Black" panose="02040A04050005020304" pitchFamily="18" charset="0"/>
                <a:cs typeface="Times New Roman" panose="02020603050405020304" pitchFamily="18" charset="0"/>
              </a:rPr>
              <a:t>Research Question &amp; Aim and Objectives</a:t>
            </a:r>
          </a:p>
        </p:txBody>
      </p:sp>
      <p:sp>
        <p:nvSpPr>
          <p:cNvPr id="3" name="Content Placeholder 2">
            <a:extLst>
              <a:ext uri="{FF2B5EF4-FFF2-40B4-BE49-F238E27FC236}">
                <a16:creationId xmlns:a16="http://schemas.microsoft.com/office/drawing/2014/main" id="{0B0511A6-D3A9-488F-9316-FDB07FDFAAE9}"/>
              </a:ext>
            </a:extLst>
          </p:cNvPr>
          <p:cNvSpPr>
            <a:spLocks noGrp="1"/>
          </p:cNvSpPr>
          <p:nvPr>
            <p:ph idx="1"/>
          </p:nvPr>
        </p:nvSpPr>
        <p:spPr>
          <a:xfrm>
            <a:off x="838200" y="1929384"/>
            <a:ext cx="10515600" cy="4526914"/>
          </a:xfrm>
        </p:spPr>
        <p:txBody>
          <a:bodyPr>
            <a:noAutofit/>
          </a:bodyPr>
          <a:lstStyle/>
          <a:p>
            <a:pPr marL="0" marR="0" lvl="0" indent="0" algn="just">
              <a:lnSpc>
                <a:spcPct val="115000"/>
              </a:lnSpc>
              <a:spcBef>
                <a:spcPts val="0"/>
              </a:spcBef>
              <a:spcAft>
                <a:spcPts val="0"/>
              </a:spcAft>
              <a:buClr>
                <a:srgbClr val="000000"/>
              </a:buClr>
              <a:buNone/>
            </a:pPr>
            <a:r>
              <a:rPr lang="en-US" sz="15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Research Question:</a:t>
            </a:r>
          </a:p>
          <a:p>
            <a:pPr marL="0" marR="0" lvl="0" indent="0" algn="just">
              <a:lnSpc>
                <a:spcPct val="115000"/>
              </a:lnSpc>
              <a:spcBef>
                <a:spcPts val="0"/>
              </a:spcBef>
              <a:spcAft>
                <a:spcPts val="0"/>
              </a:spcAft>
              <a:buClr>
                <a:srgbClr val="000000"/>
              </a:buClr>
              <a:buNone/>
            </a:pPr>
            <a:endParaRPr lang="en-US" sz="15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a:lnSpc>
                <a:spcPct val="115000"/>
              </a:lnSpc>
              <a:spcBef>
                <a:spcPts val="0"/>
              </a:spcBef>
              <a:spcAft>
                <a:spcPts val="0"/>
              </a:spcAft>
              <a:buClr>
                <a:srgbClr val="000000"/>
              </a:buClr>
              <a:buFont typeface="+mj-lt"/>
              <a:buAutoNum type="arabicPeriod"/>
            </a:pPr>
            <a:r>
              <a:rPr lang="en-US" sz="15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effectively Data Mining Algorithms and Statistical Analysis can be used to enhance the Emotional Intelligence (EI) and Academic Attainment of Learners?</a:t>
            </a:r>
            <a:endParaRPr lang="en-GB" sz="15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a:lnSpc>
                <a:spcPct val="115000"/>
              </a:lnSpc>
              <a:spcBef>
                <a:spcPts val="0"/>
              </a:spcBef>
              <a:spcAft>
                <a:spcPts val="1000"/>
              </a:spcAft>
              <a:buClr>
                <a:srgbClr val="000000"/>
              </a:buClr>
              <a:buFont typeface="+mj-lt"/>
              <a:buAutoNum type="arabicPeriod"/>
            </a:pPr>
            <a:r>
              <a:rPr lang="en-US" sz="15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Emotional Intelligence affects the Learners Academic attainment?</a:t>
            </a:r>
            <a:endParaRPr lang="en-GB" sz="15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1500" dirty="0">
                <a:latin typeface="Calibri" panose="020F0502020204030204" pitchFamily="34" charset="0"/>
                <a:cs typeface="Calibri" panose="020F0502020204030204" pitchFamily="34" charset="0"/>
              </a:rPr>
              <a:t>Aim:</a:t>
            </a:r>
          </a:p>
          <a:p>
            <a:pPr marL="0" indent="0" algn="just">
              <a:buNone/>
            </a:pPr>
            <a:r>
              <a:rPr lang="en-US" sz="1500" dirty="0">
                <a:latin typeface="Calibri" panose="020F0502020204030204" pitchFamily="34" charset="0"/>
                <a:cs typeface="Calibri" panose="020F0502020204030204" pitchFamily="34" charset="0"/>
              </a:rPr>
              <a:t>Examine how to improve learner’s emotional intelligence and academic accomplishment utilizing data mining techniques.</a:t>
            </a:r>
            <a:br>
              <a:rPr lang="en-US" sz="1500" dirty="0">
                <a:latin typeface="Calibri" panose="020F0502020204030204" pitchFamily="34" charset="0"/>
                <a:cs typeface="Calibri" panose="020F0502020204030204" pitchFamily="34" charset="0"/>
              </a:rPr>
            </a:br>
            <a:endParaRPr lang="en-US" sz="1500" dirty="0">
              <a:latin typeface="Calibri" panose="020F0502020204030204" pitchFamily="34" charset="0"/>
              <a:cs typeface="Calibri" panose="020F0502020204030204" pitchFamily="34" charset="0"/>
            </a:endParaRPr>
          </a:p>
          <a:p>
            <a:pPr marL="0" indent="0" algn="just">
              <a:buNone/>
            </a:pPr>
            <a:r>
              <a:rPr lang="en-US" sz="1500" dirty="0">
                <a:latin typeface="Calibri" panose="020F0502020204030204" pitchFamily="34" charset="0"/>
                <a:cs typeface="Calibri" panose="020F0502020204030204" pitchFamily="34" charset="0"/>
              </a:rPr>
              <a:t>Objectives:</a:t>
            </a:r>
          </a:p>
          <a:p>
            <a:pPr marL="342900" indent="-342900" algn="just">
              <a:buFont typeface="+mj-lt"/>
              <a:buAutoNum type="arabicPeriod"/>
            </a:pPr>
            <a:r>
              <a:rPr lang="en-US" sz="1500" dirty="0">
                <a:latin typeface="Calibri" panose="020F0502020204030204" pitchFamily="34" charset="0"/>
                <a:cs typeface="Calibri" panose="020F0502020204030204" pitchFamily="34" charset="0"/>
              </a:rPr>
              <a:t>The core objective is to make learning with an emotionally driven paradigm feasible in a variety of learning environments.</a:t>
            </a:r>
          </a:p>
          <a:p>
            <a:pPr marL="342900" indent="-342900" algn="just">
              <a:buFont typeface="+mj-lt"/>
              <a:buAutoNum type="arabicPeriod"/>
            </a:pPr>
            <a:r>
              <a:rPr lang="en-US" sz="1500" dirty="0">
                <a:latin typeface="Calibri" panose="020F0502020204030204" pitchFamily="34" charset="0"/>
                <a:cs typeface="Calibri" panose="020F0502020204030204" pitchFamily="34" charset="0"/>
              </a:rPr>
              <a:t>Design an effective data mining techniques that assist learners to enhance their academics proficiency and emotional intelligence.</a:t>
            </a:r>
          </a:p>
          <a:p>
            <a:pPr marL="342900" indent="-342900" algn="just">
              <a:buFont typeface="+mj-lt"/>
              <a:buAutoNum type="arabicPeriod"/>
            </a:pPr>
            <a:r>
              <a:rPr lang="en-US" sz="1500" dirty="0">
                <a:latin typeface="Calibri" panose="020F0502020204030204" pitchFamily="34" charset="0"/>
                <a:cs typeface="Calibri" panose="020F0502020204030204" pitchFamily="34" charset="0"/>
              </a:rPr>
              <a:t>Utilizing statistical analysis, anticipate the impacts of social and emotional learning on learners' personal and educational growth.</a:t>
            </a:r>
          </a:p>
          <a:p>
            <a:pPr marL="0" indent="0" algn="just">
              <a:buNone/>
            </a:pPr>
            <a:endParaRPr lang="en-GB" sz="15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9414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2180FE-6A92-40AC-A625-7E41BC3E2CCD}"/>
              </a:ext>
            </a:extLst>
          </p:cNvPr>
          <p:cNvSpPr>
            <a:spLocks noGrp="1"/>
          </p:cNvSpPr>
          <p:nvPr>
            <p:ph type="title"/>
          </p:nvPr>
        </p:nvSpPr>
        <p:spPr>
          <a:xfrm>
            <a:off x="838200" y="365125"/>
            <a:ext cx="10515600" cy="1325563"/>
          </a:xfrm>
        </p:spPr>
        <p:txBody>
          <a:bodyPr>
            <a:normAutofit fontScale="90000"/>
          </a:bodyPr>
          <a:lstStyle/>
          <a:p>
            <a:r>
              <a:rPr lang="en-GB" sz="4400" dirty="0">
                <a:latin typeface="Amasis MT Pro Black" panose="02040A04050005020304" pitchFamily="18" charset="0"/>
                <a:cs typeface="Times New Roman" panose="02020603050405020304" pitchFamily="18" charset="0"/>
              </a:rPr>
              <a:t>Problem Statement &amp; Topic for Investigation</a:t>
            </a:r>
            <a:endParaRPr lang="en-GB" sz="4400" dirty="0">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950AE3B8-4E85-430D-AB10-308424F753A2}"/>
              </a:ext>
            </a:extLst>
          </p:cNvPr>
          <p:cNvSpPr>
            <a:spLocks noGrp="1"/>
          </p:cNvSpPr>
          <p:nvPr>
            <p:ph idx="1"/>
          </p:nvPr>
        </p:nvSpPr>
        <p:spPr>
          <a:xfrm>
            <a:off x="838200" y="1929384"/>
            <a:ext cx="10515600" cy="4251960"/>
          </a:xfrm>
        </p:spPr>
        <p:txBody>
          <a:bodyPr>
            <a:normAutofit/>
          </a:bodyPr>
          <a:lstStyle/>
          <a:p>
            <a:pPr marL="0" indent="0" algn="just">
              <a:buNone/>
            </a:pPr>
            <a:r>
              <a:rPr lang="en-US" sz="2200" dirty="0">
                <a:effectLst/>
                <a:latin typeface="Calibri" panose="020F0502020204030204" pitchFamily="34" charset="0"/>
                <a:ea typeface="Calibri" panose="020F0502020204030204" pitchFamily="34" charset="0"/>
                <a:cs typeface="Calibri" panose="020F0502020204030204" pitchFamily="34" charset="0"/>
              </a:rPr>
              <a:t>Emotions and social relations are part of our life. SEL (social and emotional learning) is a crucial component of education and social evolution (</a:t>
            </a:r>
            <a:r>
              <a:rPr lang="en-US" sz="22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James et al., 2019</a:t>
            </a:r>
            <a:r>
              <a:rPr lang="en-US" sz="2200" dirty="0">
                <a:effectLst/>
                <a:latin typeface="Calibri" panose="020F0502020204030204" pitchFamily="34" charset="0"/>
                <a:ea typeface="Calibri" panose="020F0502020204030204" pitchFamily="34" charset="0"/>
                <a:cs typeface="Calibri" panose="020F0502020204030204" pitchFamily="34" charset="0"/>
              </a:rPr>
              <a:t>). Social and emotional learning is a process of acquiring self-awareness, self-restraint, and social skills that are necessary for academic, professional, and personal success (</a:t>
            </a:r>
            <a:r>
              <a:rPr lang="en-US" sz="2200" dirty="0" err="1">
                <a:solidFill>
                  <a:srgbClr val="222222"/>
                </a:solidFill>
                <a:effectLst/>
                <a:latin typeface="Arial" panose="020B0604020202020204" pitchFamily="34" charset="0"/>
                <a:ea typeface="Calibri" panose="020F0502020204030204" pitchFamily="34" charset="0"/>
                <a:cs typeface="Times New Roman" panose="02020603050405020304" pitchFamily="18" charset="0"/>
              </a:rPr>
              <a:t>Jagers</a:t>
            </a:r>
            <a:r>
              <a:rPr lang="en-US" sz="22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 et al., 2019)</a:t>
            </a:r>
            <a:r>
              <a:rPr lang="en-US" sz="2200" dirty="0">
                <a:effectLst/>
                <a:latin typeface="Calibri" panose="020F0502020204030204" pitchFamily="34" charset="0"/>
                <a:ea typeface="Calibri" panose="020F0502020204030204" pitchFamily="34" charset="0"/>
                <a:cs typeface="Calibri" panose="020F0502020204030204" pitchFamily="34" charset="0"/>
              </a:rPr>
              <a:t>. The envisioned project's goal is to make learning with an </a:t>
            </a:r>
            <a:r>
              <a:rPr lang="en-US" sz="2200" dirty="0">
                <a:effectLst/>
                <a:latin typeface="Calibri" panose="020F0502020204030204" pitchFamily="34" charset="0"/>
                <a:ea typeface="Calibri" panose="020F0502020204030204" pitchFamily="34" charset="0"/>
                <a:cs typeface="Times New Roman" panose="02020603050405020304" pitchFamily="18" charset="0"/>
              </a:rPr>
              <a:t>emotionally driven </a:t>
            </a:r>
            <a:r>
              <a:rPr lang="en-US" sz="2200" dirty="0">
                <a:effectLst/>
                <a:latin typeface="Calibri" panose="020F0502020204030204" pitchFamily="34" charset="0"/>
                <a:ea typeface="Calibri" panose="020F0502020204030204" pitchFamily="34" charset="0"/>
                <a:cs typeface="Calibri" panose="020F0502020204030204" pitchFamily="34" charset="0"/>
              </a:rPr>
              <a:t>paradigm viable in a variety of learning environments (</a:t>
            </a:r>
            <a:r>
              <a:rPr lang="en-US" sz="22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James et al., 2019</a:t>
            </a:r>
            <a:r>
              <a:rPr lang="en-US" sz="2200" dirty="0">
                <a:effectLst/>
                <a:latin typeface="Calibri" panose="020F0502020204030204" pitchFamily="34" charset="0"/>
                <a:ea typeface="Calibri" panose="020F0502020204030204" pitchFamily="34" charset="0"/>
                <a:cs typeface="Calibri" panose="020F0502020204030204" pitchFamily="34" charset="0"/>
              </a:rPr>
              <a:t>). (</a:t>
            </a:r>
            <a:r>
              <a:rPr lang="en-US" sz="2200" dirty="0" err="1">
                <a:effectLst/>
                <a:latin typeface="Calibri" panose="020F0502020204030204" pitchFamily="34" charset="0"/>
                <a:ea typeface="Calibri" panose="020F0502020204030204" pitchFamily="34" charset="0"/>
                <a:cs typeface="Calibri" panose="020F0502020204030204" pitchFamily="34" charset="0"/>
              </a:rPr>
              <a:t>Allbright</a:t>
            </a:r>
            <a:r>
              <a:rPr lang="en-US" sz="2200" dirty="0">
                <a:effectLst/>
                <a:latin typeface="Calibri" panose="020F0502020204030204" pitchFamily="34" charset="0"/>
                <a:ea typeface="Calibri" panose="020F0502020204030204" pitchFamily="34" charset="0"/>
                <a:cs typeface="Calibri" panose="020F0502020204030204" pitchFamily="34" charset="0"/>
              </a:rPr>
              <a:t> et al., 2019) Significant techniques that emotional intelligence is supposed to use to achieve change in the learner’s academic accomplishment is the primary research gap that will be filled in this study. This also uses certain well-known data mining algorithms and statistical analysis to assess and compare the results.</a:t>
            </a:r>
            <a:endParaRPr lang="en-GB" sz="2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en-GB" sz="2200" dirty="0"/>
          </a:p>
        </p:txBody>
      </p:sp>
    </p:spTree>
    <p:extLst>
      <p:ext uri="{BB962C8B-B14F-4D97-AF65-F5344CB8AC3E}">
        <p14:creationId xmlns:p14="http://schemas.microsoft.com/office/powerpoint/2010/main" val="21855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43A559-507D-44BB-BB75-7145900C21F9}"/>
              </a:ext>
            </a:extLst>
          </p:cNvPr>
          <p:cNvSpPr>
            <a:spLocks noGrp="1"/>
          </p:cNvSpPr>
          <p:nvPr>
            <p:ph type="title"/>
          </p:nvPr>
        </p:nvSpPr>
        <p:spPr>
          <a:xfrm>
            <a:off x="838200" y="365125"/>
            <a:ext cx="10515600" cy="1325563"/>
          </a:xfrm>
        </p:spPr>
        <p:txBody>
          <a:bodyPr>
            <a:normAutofit/>
          </a:bodyPr>
          <a:lstStyle/>
          <a:p>
            <a:r>
              <a:rPr lang="en-GB" sz="4800" dirty="0">
                <a:latin typeface="Amasis MT Pro Black" panose="02040A04050005020304" pitchFamily="18" charset="0"/>
                <a:cs typeface="Times New Roman" panose="02020603050405020304" pitchFamily="18" charset="0"/>
              </a:rPr>
              <a:t>Intended Users</a:t>
            </a:r>
            <a:endParaRPr lang="en-GB" dirty="0">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895BF3C4-34C2-4A39-A6E4-39960F2A3D10}"/>
              </a:ext>
            </a:extLst>
          </p:cNvPr>
          <p:cNvSpPr>
            <a:spLocks noGrp="1"/>
          </p:cNvSpPr>
          <p:nvPr>
            <p:ph idx="1"/>
          </p:nvPr>
        </p:nvSpPr>
        <p:spPr>
          <a:xfrm>
            <a:off x="838200" y="1929383"/>
            <a:ext cx="10684764" cy="4405155"/>
          </a:xfrm>
        </p:spPr>
        <p:txBody>
          <a:bodyPr>
            <a:normAutofit fontScale="70000" lnSpcReduction="20000"/>
          </a:bodyPr>
          <a:lstStyle/>
          <a:p>
            <a:r>
              <a:rPr lang="en-US" dirty="0">
                <a:latin typeface="Calibri" panose="020F0502020204030204" pitchFamily="34" charset="0"/>
                <a:cs typeface="Calibri" panose="020F0502020204030204" pitchFamily="34" charset="0"/>
              </a:rPr>
              <a:t>Intended user or group of users: educational institutions, students or learners, teachers, peers or Colleagues, Families and Learner’s social &amp; emotional relations.</a:t>
            </a:r>
          </a:p>
          <a:p>
            <a:r>
              <a:rPr lang="en-US" dirty="0">
                <a:latin typeface="Calibri" panose="020F0502020204030204" pitchFamily="34" charset="0"/>
                <a:cs typeface="Calibri" panose="020F0502020204030204" pitchFamily="34" charset="0"/>
              </a:rPr>
              <a:t>Learner's benefit from social and emotional learning because it teaches them essential survival abilities such as personality, building a strong subconscious, embracing responsibility for one's actions, and building interactions with everyone (Panayiotou, M., et al., 2019).</a:t>
            </a:r>
          </a:p>
          <a:p>
            <a:r>
              <a:rPr lang="en-US" dirty="0">
                <a:latin typeface="Calibri" panose="020F0502020204030204" pitchFamily="34" charset="0"/>
                <a:cs typeface="Calibri" panose="020F0502020204030204" pitchFamily="34" charset="0"/>
              </a:rPr>
              <a:t>Youngsters can benefit from the concept of SEL. Improves stability, resilience, dedication, compassion, commitment and enthusiasm to school, and a feeling of purpose are all examples of more progressive outcomes towards self, colleagues, and assignments (Jones-Schenk, J. 2019). Reduced mischief and risk-taking attitude. Emotional anguish is reduced. Educational Institutions who follow the concept can gain more admissions (Mielke, M. and Farrington, D. P. 2021). Academically, learners who engaged in SEL programs improved their total grades by 11 percentiles and had higher attendance (Xia, J et al., 2022). According to research, SEL is more successful when families replicate the same competences that their children are learning in class. More beneficial social habits and improvement of adult and peer connections (</a:t>
            </a:r>
            <a:r>
              <a:rPr lang="en-US" dirty="0" err="1">
                <a:latin typeface="Calibri" panose="020F0502020204030204" pitchFamily="34" charset="0"/>
                <a:cs typeface="Calibri" panose="020F0502020204030204" pitchFamily="34" charset="0"/>
              </a:rPr>
              <a:t>Arikan</a:t>
            </a:r>
            <a:r>
              <a:rPr lang="en-US" dirty="0">
                <a:latin typeface="Calibri" panose="020F0502020204030204" pitchFamily="34" charset="0"/>
                <a:cs typeface="Calibri" panose="020F0502020204030204" pitchFamily="34" charset="0"/>
              </a:rPr>
              <a:t>, N. 2020).</a:t>
            </a:r>
          </a:p>
          <a:p>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4107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C82889-D47A-41DF-87BF-F3FFA600A5A4}"/>
              </a:ext>
            </a:extLst>
          </p:cNvPr>
          <p:cNvSpPr>
            <a:spLocks noGrp="1"/>
          </p:cNvSpPr>
          <p:nvPr>
            <p:ph type="title"/>
          </p:nvPr>
        </p:nvSpPr>
        <p:spPr>
          <a:xfrm>
            <a:off x="838200" y="365125"/>
            <a:ext cx="10515600" cy="1325563"/>
          </a:xfrm>
        </p:spPr>
        <p:txBody>
          <a:bodyPr>
            <a:normAutofit/>
          </a:bodyPr>
          <a:lstStyle/>
          <a:p>
            <a:r>
              <a:rPr lang="en-US" dirty="0">
                <a:latin typeface="Amasis MT Pro Black" panose="02040A04050005020304" pitchFamily="18" charset="0"/>
              </a:rPr>
              <a:t>Literature Review</a:t>
            </a:r>
            <a:endParaRPr lang="en-GB" dirty="0">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E21B219F-BB27-426F-8A5F-00437C7593B0}"/>
              </a:ext>
            </a:extLst>
          </p:cNvPr>
          <p:cNvSpPr>
            <a:spLocks noGrp="1"/>
          </p:cNvSpPr>
          <p:nvPr>
            <p:ph idx="1"/>
          </p:nvPr>
        </p:nvSpPr>
        <p:spPr>
          <a:xfrm>
            <a:off x="838200" y="1929384"/>
            <a:ext cx="10515600" cy="4251960"/>
          </a:xfrm>
        </p:spPr>
        <p:txBody>
          <a:bodyPr>
            <a:normAutofit/>
          </a:bodyPr>
          <a:lstStyle/>
          <a:p>
            <a:r>
              <a:rPr lang="en-GB" sz="1800" dirty="0">
                <a:solidFill>
                  <a:srgbClr val="000000"/>
                </a:solidFill>
                <a:effectLst/>
                <a:latin typeface="Calibri" panose="020F0502020204030204" pitchFamily="34" charset="0"/>
                <a:ea typeface="Calibri" panose="020F0502020204030204" pitchFamily="34" charset="0"/>
              </a:rPr>
              <a:t>According to (Jan, S. U., &amp; Anwar, M. A. 2019) EI has indeed been discovered to be a one-of-a-kind reliable indicator of academic accomplishment in learners. It assists them in making the journey from secondary school to higher educational institutions. Because there is a link between EI and learners' academic achievement. Research findings revealed that learners who stayed at university exhibited much higher levels of emotional and social acumen than those who dropped out before one‘s second year. Academic performance causes a slew of issues that might negatively impact a learner’s academic success. EI was one of the elements that contributed to this form of procrastinate. </a:t>
            </a:r>
          </a:p>
          <a:p>
            <a:r>
              <a:rPr lang="en-GB"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Based on the Researchers (</a:t>
            </a:r>
            <a:r>
              <a:rPr lang="en-GB" sz="18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Zhoc</a:t>
            </a:r>
            <a:r>
              <a:rPr lang="en-GB"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K. C., et al., 2020) have looked at the influence of emotions on learner involvement. In education, nevertheless, very little recognized over how emotional intelligence (EI) is linked to involvement and other effective learning results. To bridge that gap, this research examined over how emotional intelligence (EQ) is linked to learner involvement and how EQ and involvement work together to forecast important and vital objectives in education, such as learners' Grades, general results, and happiness with their educational journey.</a:t>
            </a:r>
            <a:endParaRPr lang="en-GB" dirty="0"/>
          </a:p>
        </p:txBody>
      </p:sp>
    </p:spTree>
    <p:extLst>
      <p:ext uri="{BB962C8B-B14F-4D97-AF65-F5344CB8AC3E}">
        <p14:creationId xmlns:p14="http://schemas.microsoft.com/office/powerpoint/2010/main" val="3823513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7" name="Rectangle 16">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A125C1-DB9C-4E66-85BA-7165E169E405}"/>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5800" dirty="0">
                <a:latin typeface="Amasis MT Pro Black" panose="02040A04050005020304" pitchFamily="18" charset="0"/>
              </a:rPr>
              <a:t>Gantt Chart</a:t>
            </a:r>
          </a:p>
        </p:txBody>
      </p:sp>
      <p:sp>
        <p:nvSpPr>
          <p:cNvPr id="19"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27432"/>
          </a:xfrm>
          <a:custGeom>
            <a:avLst/>
            <a:gdLst>
              <a:gd name="connsiteX0" fmla="*/ 0 w 3255095"/>
              <a:gd name="connsiteY0" fmla="*/ 0 h 27432"/>
              <a:gd name="connsiteX1" fmla="*/ 618468 w 3255095"/>
              <a:gd name="connsiteY1" fmla="*/ 0 h 27432"/>
              <a:gd name="connsiteX2" fmla="*/ 1269487 w 3255095"/>
              <a:gd name="connsiteY2" fmla="*/ 0 h 27432"/>
              <a:gd name="connsiteX3" fmla="*/ 1953057 w 3255095"/>
              <a:gd name="connsiteY3" fmla="*/ 0 h 27432"/>
              <a:gd name="connsiteX4" fmla="*/ 2636627 w 3255095"/>
              <a:gd name="connsiteY4" fmla="*/ 0 h 27432"/>
              <a:gd name="connsiteX5" fmla="*/ 3255095 w 3255095"/>
              <a:gd name="connsiteY5" fmla="*/ 0 h 27432"/>
              <a:gd name="connsiteX6" fmla="*/ 3255095 w 3255095"/>
              <a:gd name="connsiteY6" fmla="*/ 27432 h 27432"/>
              <a:gd name="connsiteX7" fmla="*/ 2538974 w 3255095"/>
              <a:gd name="connsiteY7" fmla="*/ 27432 h 27432"/>
              <a:gd name="connsiteX8" fmla="*/ 1822853 w 3255095"/>
              <a:gd name="connsiteY8" fmla="*/ 27432 h 27432"/>
              <a:gd name="connsiteX9" fmla="*/ 1171834 w 3255095"/>
              <a:gd name="connsiteY9" fmla="*/ 27432 h 27432"/>
              <a:gd name="connsiteX10" fmla="*/ 0 w 3255095"/>
              <a:gd name="connsiteY10" fmla="*/ 27432 h 27432"/>
              <a:gd name="connsiteX11" fmla="*/ 0 w 3255095"/>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27432"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3929" y="7395"/>
                  <a:pt x="3255140" y="21864"/>
                  <a:pt x="3255095" y="27432"/>
                </a:cubicBezTo>
                <a:cubicBezTo>
                  <a:pt x="3088545" y="32347"/>
                  <a:pt x="2687475" y="16563"/>
                  <a:pt x="2538974" y="27432"/>
                </a:cubicBezTo>
                <a:cubicBezTo>
                  <a:pt x="2390473" y="38301"/>
                  <a:pt x="2137381" y="185"/>
                  <a:pt x="1822853" y="27432"/>
                </a:cubicBezTo>
                <a:cubicBezTo>
                  <a:pt x="1508325" y="54679"/>
                  <a:pt x="1466437" y="29529"/>
                  <a:pt x="1171834" y="27432"/>
                </a:cubicBezTo>
                <a:cubicBezTo>
                  <a:pt x="877231" y="25335"/>
                  <a:pt x="561097" y="46787"/>
                  <a:pt x="0" y="27432"/>
                </a:cubicBezTo>
                <a:cubicBezTo>
                  <a:pt x="-503" y="20663"/>
                  <a:pt x="1168" y="5855"/>
                  <a:pt x="0" y="0"/>
                </a:cubicBezTo>
                <a:close/>
              </a:path>
              <a:path w="3255095" h="27432"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5288" y="12649"/>
                  <a:pt x="3254107" y="17989"/>
                  <a:pt x="3255095" y="27432"/>
                </a:cubicBezTo>
                <a:cubicBezTo>
                  <a:pt x="3120743" y="25834"/>
                  <a:pt x="2759628" y="51606"/>
                  <a:pt x="2604076" y="27432"/>
                </a:cubicBezTo>
                <a:cubicBezTo>
                  <a:pt x="2448524" y="3258"/>
                  <a:pt x="2184336" y="28743"/>
                  <a:pt x="1887955" y="27432"/>
                </a:cubicBezTo>
                <a:cubicBezTo>
                  <a:pt x="1591574" y="26121"/>
                  <a:pt x="1548845" y="16014"/>
                  <a:pt x="1334589" y="27432"/>
                </a:cubicBezTo>
                <a:cubicBezTo>
                  <a:pt x="1120333" y="38850"/>
                  <a:pt x="996014" y="18806"/>
                  <a:pt x="683570" y="27432"/>
                </a:cubicBezTo>
                <a:cubicBezTo>
                  <a:pt x="371126" y="36058"/>
                  <a:pt x="198687" y="25311"/>
                  <a:pt x="0" y="27432"/>
                </a:cubicBezTo>
                <a:cubicBezTo>
                  <a:pt x="1300" y="19678"/>
                  <a:pt x="-86" y="12044"/>
                  <a:pt x="0" y="0"/>
                </a:cubicBezTo>
                <a:close/>
              </a:path>
            </a:pathLst>
          </a:custGeom>
          <a:solidFill>
            <a:srgbClr val="FDD492"/>
          </a:solidFill>
          <a:ln w="38100" cap="rnd">
            <a:solidFill>
              <a:srgbClr val="FDD49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5441630-E29C-45D2-B5C3-D432D1E4A7E5}"/>
              </a:ext>
            </a:extLst>
          </p:cNvPr>
          <p:cNvPicPr>
            <a:picLocks noGrp="1" noChangeAspect="1"/>
          </p:cNvPicPr>
          <p:nvPr>
            <p:ph idx="1"/>
          </p:nvPr>
        </p:nvPicPr>
        <p:blipFill>
          <a:blip r:embed="rId2"/>
          <a:stretch>
            <a:fillRect/>
          </a:stretch>
        </p:blipFill>
        <p:spPr>
          <a:xfrm>
            <a:off x="4210692" y="0"/>
            <a:ext cx="7981307" cy="6803136"/>
          </a:xfrm>
          <a:prstGeom prst="rect">
            <a:avLst/>
          </a:prstGeom>
        </p:spPr>
      </p:pic>
    </p:spTree>
    <p:extLst>
      <p:ext uri="{BB962C8B-B14F-4D97-AF65-F5344CB8AC3E}">
        <p14:creationId xmlns:p14="http://schemas.microsoft.com/office/powerpoint/2010/main" val="4208775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03F1E2-1B12-41AF-89EA-0D98A74598F6}"/>
              </a:ext>
            </a:extLst>
          </p:cNvPr>
          <p:cNvSpPr>
            <a:spLocks noGrp="1"/>
          </p:cNvSpPr>
          <p:nvPr>
            <p:ph type="title"/>
          </p:nvPr>
        </p:nvSpPr>
        <p:spPr>
          <a:xfrm>
            <a:off x="838200" y="235359"/>
            <a:ext cx="10515600" cy="1455329"/>
          </a:xfrm>
        </p:spPr>
        <p:txBody>
          <a:bodyPr>
            <a:noAutofit/>
          </a:bodyPr>
          <a:lstStyle/>
          <a:p>
            <a:r>
              <a:rPr lang="en-US" sz="3200" dirty="0">
                <a:latin typeface="Amasis MT Pro Black" panose="02040A04050005020304" pitchFamily="18" charset="0"/>
              </a:rPr>
              <a:t>Design and Methodology:</a:t>
            </a:r>
            <a:br>
              <a:rPr lang="en-US" sz="3200" dirty="0">
                <a:latin typeface="Amasis MT Pro Black" panose="02040A04050005020304" pitchFamily="18" charset="0"/>
              </a:rPr>
            </a:br>
            <a:r>
              <a:rPr lang="en-US" sz="3200" dirty="0">
                <a:latin typeface="Amasis MT Pro Black" panose="02040A04050005020304" pitchFamily="18" charset="0"/>
              </a:rPr>
              <a:t>Educational Data mining approach for social-emotional learners</a:t>
            </a:r>
            <a:endParaRPr lang="en-GB" sz="3200" dirty="0"/>
          </a:p>
        </p:txBody>
      </p:sp>
      <p:pic>
        <p:nvPicPr>
          <p:cNvPr id="6" name="Picture 2">
            <a:extLst>
              <a:ext uri="{FF2B5EF4-FFF2-40B4-BE49-F238E27FC236}">
                <a16:creationId xmlns:a16="http://schemas.microsoft.com/office/drawing/2014/main" id="{CFBA8C5A-4EB6-41DB-94DD-AC3638B481B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1" y="1928813"/>
            <a:ext cx="10515600" cy="4252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78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DD2D53-22CD-4600-B909-E83968F8F57F}"/>
              </a:ext>
            </a:extLst>
          </p:cNvPr>
          <p:cNvSpPr>
            <a:spLocks noGrp="1"/>
          </p:cNvSpPr>
          <p:nvPr>
            <p:ph type="title"/>
          </p:nvPr>
        </p:nvSpPr>
        <p:spPr>
          <a:xfrm>
            <a:off x="838200" y="365125"/>
            <a:ext cx="10515600" cy="1325563"/>
          </a:xfrm>
        </p:spPr>
        <p:txBody>
          <a:bodyPr>
            <a:normAutofit/>
          </a:bodyPr>
          <a:lstStyle/>
          <a:p>
            <a:r>
              <a:rPr lang="en-GB" dirty="0">
                <a:latin typeface="Amasis MT Pro Black" panose="02040A04050005020304" pitchFamily="18" charset="0"/>
                <a:cs typeface="Times New Roman" panose="02020603050405020304" pitchFamily="18" charset="0"/>
              </a:rPr>
              <a:t>Implementation</a:t>
            </a:r>
            <a:endParaRPr lang="en-GB" dirty="0">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323DAA4C-EF4A-40B8-A200-2E3A6871E49B}"/>
              </a:ext>
            </a:extLst>
          </p:cNvPr>
          <p:cNvSpPr>
            <a:spLocks noGrp="1"/>
          </p:cNvSpPr>
          <p:nvPr>
            <p:ph idx="1"/>
          </p:nvPr>
        </p:nvSpPr>
        <p:spPr>
          <a:xfrm>
            <a:off x="838200" y="1929384"/>
            <a:ext cx="10515600" cy="4668364"/>
          </a:xfrm>
        </p:spPr>
        <p:txBody>
          <a:bodyPr>
            <a:noAutofit/>
          </a:bodyPr>
          <a:lstStyle/>
          <a:p>
            <a:pPr>
              <a:lnSpc>
                <a:spcPct val="100000"/>
              </a:lnSpc>
            </a:pPr>
            <a:r>
              <a:rPr lang="en-US" sz="1800" dirty="0">
                <a:latin typeface="Calibri" panose="020F0502020204030204" pitchFamily="34" charset="0"/>
                <a:cs typeface="Calibri" panose="020F0502020204030204" pitchFamily="34" charset="0"/>
              </a:rPr>
              <a:t>Data is gathered from Kaggle (</a:t>
            </a:r>
            <a:r>
              <a:rPr lang="en-US" sz="1800" u="sng" dirty="0">
                <a:effectLst/>
                <a:latin typeface="Calibri" panose="020F0502020204030204" pitchFamily="34" charset="0"/>
                <a:ea typeface="Calibri" panose="020F0502020204030204" pitchFamily="34" charset="0"/>
                <a:cs typeface="Calibri" panose="020F0502020204030204" pitchFamily="34" charset="0"/>
                <a:hlinkClick r:id="rId2"/>
              </a:rPr>
              <a:t>https://www.kaggle.com/mahjabeenamira/classroom-images</a:t>
            </a:r>
            <a:r>
              <a:rPr lang="en-US" sz="1800" u="sng" dirty="0">
                <a:effectLst/>
                <a:latin typeface="Calibri" panose="020F0502020204030204" pitchFamily="34" charset="0"/>
                <a:ea typeface="Calibri" panose="020F0502020204030204" pitchFamily="34" charset="0"/>
                <a:cs typeface="Calibri" panose="020F0502020204030204" pitchFamily="34" charset="0"/>
              </a:rPr>
              <a:t>, </a:t>
            </a:r>
            <a:r>
              <a:rPr lang="en-US" sz="1800" u="sng" dirty="0">
                <a:effectLst/>
                <a:latin typeface="Calibri" panose="020F0502020204030204" pitchFamily="34" charset="0"/>
                <a:ea typeface="Calibri" panose="020F0502020204030204" pitchFamily="34" charset="0"/>
                <a:cs typeface="Calibri" panose="020F0502020204030204" pitchFamily="34" charset="0"/>
                <a:hlinkClick r:id="rId3"/>
              </a:rPr>
              <a:t>https://www.kaggle.com/larsen0966/student-performance-data-set</a:t>
            </a:r>
            <a:r>
              <a:rPr lang="en-US" sz="1800" dirty="0">
                <a:latin typeface="Calibri" panose="020F0502020204030204" pitchFamily="34" charset="0"/>
                <a:cs typeface="Calibri" panose="020F0502020204030204" pitchFamily="34" charset="0"/>
              </a:rPr>
              <a:t>)</a:t>
            </a:r>
          </a:p>
          <a:p>
            <a:pPr>
              <a:lnSpc>
                <a:spcPct val="100000"/>
              </a:lnSpc>
            </a:pPr>
            <a:r>
              <a:rPr lang="en-US" sz="1800" dirty="0">
                <a:latin typeface="Calibri" panose="020F0502020204030204" pitchFamily="34" charset="0"/>
                <a:cs typeface="Calibri" panose="020F0502020204030204" pitchFamily="34" charset="0"/>
              </a:rPr>
              <a:t>Data is of 2 types – Classroom Images, Student performance data.</a:t>
            </a:r>
          </a:p>
          <a:p>
            <a:pPr>
              <a:lnSpc>
                <a:spcPct val="100000"/>
              </a:lnSpc>
            </a:pPr>
            <a:r>
              <a:rPr lang="en-US" sz="1800" dirty="0">
                <a:latin typeface="Calibri" panose="020F0502020204030204" pitchFamily="34" charset="0"/>
                <a:cs typeface="Calibri" panose="020F0502020204030204" pitchFamily="34" charset="0"/>
              </a:rPr>
              <a:t>Initially Classroom Images data is loaded.</a:t>
            </a:r>
          </a:p>
          <a:p>
            <a:pPr>
              <a:lnSpc>
                <a:spcPct val="100000"/>
              </a:lnSpc>
            </a:pPr>
            <a:r>
              <a:rPr lang="en-US" sz="1800" dirty="0">
                <a:latin typeface="Calibri" panose="020F0502020204030204" pitchFamily="34" charset="0"/>
                <a:cs typeface="Calibri" panose="020F0502020204030204" pitchFamily="34" charset="0"/>
              </a:rPr>
              <a:t>With the help of Deepface, Retinaface, cv2 the following processes are achieved </a:t>
            </a:r>
            <a:r>
              <a:rPr lang="en-US" sz="1800" dirty="0">
                <a:effectLst/>
                <a:latin typeface="Calibri" panose="020F0502020204030204" pitchFamily="34" charset="0"/>
                <a:ea typeface="Calibri" panose="020F0502020204030204" pitchFamily="34" charset="0"/>
              </a:rPr>
              <a:t>Face segmentation, Emotion recognition.</a:t>
            </a:r>
          </a:p>
          <a:p>
            <a:pPr>
              <a:lnSpc>
                <a:spcPct val="100000"/>
              </a:lnSpc>
            </a:pPr>
            <a:r>
              <a:rPr lang="en-US" sz="1800" dirty="0">
                <a:effectLst/>
                <a:latin typeface="Calibri" panose="020F0502020204030204" pitchFamily="34" charset="0"/>
                <a:ea typeface="Calibri" panose="020F0502020204030204" pitchFamily="34" charset="0"/>
              </a:rPr>
              <a:t>Maintained the emotional data.</a:t>
            </a:r>
          </a:p>
          <a:p>
            <a:pPr>
              <a:lnSpc>
                <a:spcPct val="100000"/>
              </a:lnSpc>
            </a:pPr>
            <a:r>
              <a:rPr lang="en-US" sz="1800" dirty="0">
                <a:latin typeface="Calibri" panose="020F0502020204030204" pitchFamily="34" charset="0"/>
                <a:cs typeface="Calibri" panose="020F0502020204030204" pitchFamily="34" charset="0"/>
              </a:rPr>
              <a:t>Loaded the required libraries and student performance data.</a:t>
            </a:r>
          </a:p>
          <a:p>
            <a:pPr>
              <a:lnSpc>
                <a:spcPct val="100000"/>
              </a:lnSpc>
            </a:pPr>
            <a:r>
              <a:rPr lang="en-US" sz="1800" dirty="0">
                <a:latin typeface="Calibri" panose="020F0502020204030204" pitchFamily="34" charset="0"/>
                <a:cs typeface="Calibri" panose="020F0502020204030204" pitchFamily="34" charset="0"/>
              </a:rPr>
              <a:t>Data preprocessing (removing duplicates, null, Nan) is employed.</a:t>
            </a:r>
          </a:p>
          <a:p>
            <a:pPr>
              <a:lnSpc>
                <a:spcPct val="100000"/>
              </a:lnSpc>
            </a:pPr>
            <a:r>
              <a:rPr lang="en-GB" sz="1800" dirty="0">
                <a:latin typeface="Calibri" panose="020F0502020204030204" pitchFamily="34" charset="0"/>
                <a:cs typeface="Calibri" panose="020F0502020204030204" pitchFamily="34" charset="0"/>
              </a:rPr>
              <a:t>In the student performance data, 3 different exam grades are available. Created an average of all the 3 grades and inserted as a new column. From these </a:t>
            </a:r>
            <a:r>
              <a:rPr lang="en-US" sz="1800" dirty="0">
                <a:latin typeface="Calibri" panose="020F0502020204030204" pitchFamily="34" charset="0"/>
                <a:cs typeface="Calibri" panose="020F0502020204030204" pitchFamily="34" charset="0"/>
              </a:rPr>
              <a:t>Grade the students based on the average. Fail is considered based on below 40% which is below 8. The ranges are: Fail - (0, 8], Third - (8, 10], Lower Second - (10, 13], Upper Second - (13, 16], First - (16, 20].</a:t>
            </a:r>
            <a:endParaRPr lang="en-GB"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8546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DC3EFB-0B8C-42F3-8E16-47A6A63412D5}"/>
              </a:ext>
            </a:extLst>
          </p:cNvPr>
          <p:cNvSpPr>
            <a:spLocks noGrp="1"/>
          </p:cNvSpPr>
          <p:nvPr>
            <p:ph type="title"/>
          </p:nvPr>
        </p:nvSpPr>
        <p:spPr>
          <a:xfrm>
            <a:off x="838200" y="365125"/>
            <a:ext cx="10515600" cy="1325563"/>
          </a:xfrm>
        </p:spPr>
        <p:txBody>
          <a:bodyPr>
            <a:normAutofit/>
          </a:bodyPr>
          <a:lstStyle/>
          <a:p>
            <a:r>
              <a:rPr lang="en-GB" dirty="0">
                <a:latin typeface="Amasis MT Pro Black" panose="02040A04050005020304" pitchFamily="18" charset="0"/>
                <a:cs typeface="Times New Roman" panose="02020603050405020304" pitchFamily="18" charset="0"/>
              </a:rPr>
              <a:t>Implementation</a:t>
            </a:r>
            <a:endParaRPr lang="en-GB" dirty="0"/>
          </a:p>
        </p:txBody>
      </p:sp>
      <p:sp>
        <p:nvSpPr>
          <p:cNvPr id="3" name="Content Placeholder 2">
            <a:extLst>
              <a:ext uri="{FF2B5EF4-FFF2-40B4-BE49-F238E27FC236}">
                <a16:creationId xmlns:a16="http://schemas.microsoft.com/office/drawing/2014/main" id="{33FDE5D7-784E-46A0-8D80-67A753A0E7AA}"/>
              </a:ext>
            </a:extLst>
          </p:cNvPr>
          <p:cNvSpPr>
            <a:spLocks noGrp="1"/>
          </p:cNvSpPr>
          <p:nvPr>
            <p:ph idx="1"/>
          </p:nvPr>
        </p:nvSpPr>
        <p:spPr>
          <a:xfrm>
            <a:off x="838200" y="1929384"/>
            <a:ext cx="10515600" cy="4251960"/>
          </a:xfrm>
        </p:spPr>
        <p:txBody>
          <a:bodyPr>
            <a:normAutofit fontScale="85000" lnSpcReduction="20000"/>
          </a:bodyPr>
          <a:lstStyle/>
          <a:p>
            <a:r>
              <a:rPr lang="en-US" sz="1800" dirty="0">
                <a:latin typeface="Calibri" panose="020F0502020204030204" pitchFamily="34" charset="0"/>
                <a:cs typeface="Calibri" panose="020F0502020204030204" pitchFamily="34" charset="0"/>
              </a:rPr>
              <a:t>Statistical analysis of data is done using statsmodels.api for descriptive statistics and performed some inferential statistics.</a:t>
            </a:r>
          </a:p>
          <a:p>
            <a:r>
              <a:rPr lang="en-US" sz="1800" dirty="0">
                <a:latin typeface="Calibri" panose="020F0502020204030204" pitchFamily="34" charset="0"/>
                <a:cs typeface="Calibri" panose="020F0502020204030204" pitchFamily="34" charset="0"/>
              </a:rPr>
              <a:t>Data Preparation is done by encoding the whole data using onehot encoder and label encoder.</a:t>
            </a:r>
          </a:p>
          <a:p>
            <a:r>
              <a:rPr lang="en-GB" sz="1800" dirty="0">
                <a:latin typeface="Calibri" panose="020F0502020204030204" pitchFamily="34" charset="0"/>
                <a:cs typeface="Calibri" panose="020F0502020204030204" pitchFamily="34" charset="0"/>
              </a:rPr>
              <a:t>Selected classification (‘Logistic Regression’, ‘Decision Tree Classifier (ID3, C4.5)’, ‘Support Vector Machine’, ‘Random Forest Classifier’, ‘AdaBoost Classifier’, ‘Gradient Boosting Classifier’, ‘K Neighbors Classifier’, ‘Gaussian Naive Bayes’), clustering (Agglomerative Clustering), and regression (Linear Regression) models.</a:t>
            </a:r>
          </a:p>
          <a:p>
            <a:r>
              <a:rPr lang="en-GB" sz="1800" dirty="0">
                <a:latin typeface="Calibri" panose="020F0502020204030204" pitchFamily="34" charset="0"/>
                <a:cs typeface="Calibri" panose="020F0502020204030204" pitchFamily="34" charset="0"/>
              </a:rPr>
              <a:t>As the dataset is small employed smote, random under sampling and random over sampling.</a:t>
            </a:r>
          </a:p>
          <a:p>
            <a:r>
              <a:rPr lang="en-GB" sz="1800" dirty="0">
                <a:latin typeface="Calibri" panose="020F0502020204030204" pitchFamily="34" charset="0"/>
                <a:cs typeface="Calibri" panose="020F0502020204030204" pitchFamily="34" charset="0"/>
              </a:rPr>
              <a:t>Employed hyperparameter tuning for all the classification models.</a:t>
            </a:r>
          </a:p>
          <a:p>
            <a:r>
              <a:rPr lang="en-GB" sz="1800" dirty="0">
                <a:latin typeface="Calibri" panose="020F0502020204030204" pitchFamily="34" charset="0"/>
                <a:cs typeface="Calibri" panose="020F0502020204030204" pitchFamily="34" charset="0"/>
              </a:rPr>
              <a:t>Divided the data set into train and test with 80:20 ratio.</a:t>
            </a:r>
          </a:p>
          <a:p>
            <a:r>
              <a:rPr lang="en-GB" sz="1800" dirty="0">
                <a:latin typeface="Calibri" panose="020F0502020204030204" pitchFamily="34" charset="0"/>
                <a:cs typeface="Calibri" panose="020F0502020204030204" pitchFamily="34" charset="0"/>
              </a:rPr>
              <a:t>Evaluated the built models by utilizing </a:t>
            </a:r>
            <a:r>
              <a:rPr lang="en-US" sz="1800" dirty="0">
                <a:latin typeface="Calibri" panose="020F0502020204030204" pitchFamily="34" charset="0"/>
                <a:cs typeface="Calibri" panose="020F0502020204030204" pitchFamily="34" charset="0"/>
              </a:rPr>
              <a:t>Confusion matrix, Accuracy, Precision, Recall, F1 score.</a:t>
            </a:r>
          </a:p>
          <a:p>
            <a:r>
              <a:rPr lang="en-US" sz="1800" dirty="0">
                <a:latin typeface="Calibri" panose="020F0502020204030204" pitchFamily="34" charset="0"/>
                <a:cs typeface="Calibri" panose="020F0502020204030204" pitchFamily="34" charset="0"/>
              </a:rPr>
              <a:t>Random Forest &amp; Gradient Boosting seem to give the best results.</a:t>
            </a:r>
          </a:p>
          <a:p>
            <a:r>
              <a:rPr lang="en-US" sz="1800" dirty="0">
                <a:latin typeface="Calibri" panose="020F0502020204030204" pitchFamily="34" charset="0"/>
                <a:cs typeface="Calibri" panose="020F0502020204030204" pitchFamily="34" charset="0"/>
              </a:rPr>
              <a:t>SVM, Logistic Regression, Gaussian Naive Bayes probably overfits the data, since there are only 649 rows and 31 columns, for this number of features there’s a need for more data for the built models to fit properly.</a:t>
            </a:r>
          </a:p>
          <a:p>
            <a:r>
              <a:rPr lang="en-US" sz="1800" dirty="0">
                <a:latin typeface="Calibri" panose="020F0502020204030204" pitchFamily="34" charset="0"/>
                <a:cs typeface="Calibri" panose="020F0502020204030204" pitchFamily="34" charset="0"/>
              </a:rPr>
              <a:t>ID3, C4.5 seems to give the best results in comparison with decision tree.</a:t>
            </a:r>
          </a:p>
          <a:p>
            <a:r>
              <a:rPr lang="en-US" sz="1800" dirty="0">
                <a:latin typeface="Calibri" panose="020F0502020204030204" pitchFamily="34" charset="0"/>
                <a:cs typeface="Calibri" panose="020F0502020204030204" pitchFamily="34" charset="0"/>
              </a:rPr>
              <a:t>Clustering and regression models are not suitable for this kind of dataset.</a:t>
            </a:r>
            <a:endParaRPr lang="en-GB" sz="1800" dirty="0">
              <a:latin typeface="Calibri" panose="020F0502020204030204" pitchFamily="34" charset="0"/>
              <a:cs typeface="Calibri" panose="020F0502020204030204" pitchFamily="34" charset="0"/>
            </a:endParaRPr>
          </a:p>
          <a:p>
            <a:endParaRPr lang="en-GB" sz="1800" dirty="0">
              <a:latin typeface="Calibri" panose="020F0502020204030204" pitchFamily="34" charset="0"/>
              <a:cs typeface="Calibri" panose="020F0502020204030204" pitchFamily="34" charset="0"/>
            </a:endParaRPr>
          </a:p>
          <a:p>
            <a:endParaRPr lang="en-GB"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91765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3DA2B9-6386-4AF7-83F7-898B545EF10A}"/>
              </a:ext>
            </a:extLst>
          </p:cNvPr>
          <p:cNvSpPr>
            <a:spLocks noGrp="1"/>
          </p:cNvSpPr>
          <p:nvPr>
            <p:ph type="title"/>
          </p:nvPr>
        </p:nvSpPr>
        <p:spPr>
          <a:xfrm>
            <a:off x="838200" y="365125"/>
            <a:ext cx="10515600" cy="1325563"/>
          </a:xfrm>
        </p:spPr>
        <p:txBody>
          <a:bodyPr>
            <a:normAutofit/>
          </a:bodyPr>
          <a:lstStyle/>
          <a:p>
            <a:r>
              <a:rPr lang="en-US" sz="4400" dirty="0">
                <a:latin typeface="Amasis MT Pro Black" panose="02040A04050005020304" pitchFamily="18" charset="0"/>
              </a:rPr>
              <a:t>EDA Results</a:t>
            </a:r>
            <a:endParaRPr lang="en-GB" sz="4400" dirty="0">
              <a:latin typeface="Amasis MT Pro Black" panose="02040A04050005020304" pitchFamily="18" charset="0"/>
            </a:endParaRPr>
          </a:p>
        </p:txBody>
      </p:sp>
      <p:pic>
        <p:nvPicPr>
          <p:cNvPr id="11" name="Picture 10">
            <a:extLst>
              <a:ext uri="{FF2B5EF4-FFF2-40B4-BE49-F238E27FC236}">
                <a16:creationId xmlns:a16="http://schemas.microsoft.com/office/drawing/2014/main" id="{4B304F0E-0D2B-48E7-A03E-A4EB120E596A}"/>
              </a:ext>
            </a:extLst>
          </p:cNvPr>
          <p:cNvPicPr>
            <a:picLocks noChangeAspect="1"/>
          </p:cNvPicPr>
          <p:nvPr/>
        </p:nvPicPr>
        <p:blipFill>
          <a:blip r:embed="rId2"/>
          <a:stretch>
            <a:fillRect/>
          </a:stretch>
        </p:blipFill>
        <p:spPr>
          <a:xfrm>
            <a:off x="8914070" y="2055813"/>
            <a:ext cx="3000375" cy="1838325"/>
          </a:xfrm>
          <a:prstGeom prst="rect">
            <a:avLst/>
          </a:prstGeom>
        </p:spPr>
      </p:pic>
      <p:pic>
        <p:nvPicPr>
          <p:cNvPr id="1026" name="Picture 2">
            <a:extLst>
              <a:ext uri="{FF2B5EF4-FFF2-40B4-BE49-F238E27FC236}">
                <a16:creationId xmlns:a16="http://schemas.microsoft.com/office/drawing/2014/main" id="{126200EB-FF94-4DCC-868A-399E7B4C19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036" y="1874376"/>
            <a:ext cx="4451990" cy="479496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986D9420-1B5D-4820-AE6C-65796763EF96}"/>
              </a:ext>
            </a:extLst>
          </p:cNvPr>
          <p:cNvPicPr>
            <a:picLocks noChangeAspect="1"/>
          </p:cNvPicPr>
          <p:nvPr/>
        </p:nvPicPr>
        <p:blipFill>
          <a:blip r:embed="rId4"/>
          <a:stretch>
            <a:fillRect/>
          </a:stretch>
        </p:blipFill>
        <p:spPr>
          <a:xfrm>
            <a:off x="5526258" y="1902798"/>
            <a:ext cx="2743200" cy="2200275"/>
          </a:xfrm>
          <a:prstGeom prst="rect">
            <a:avLst/>
          </a:prstGeom>
        </p:spPr>
      </p:pic>
      <p:pic>
        <p:nvPicPr>
          <p:cNvPr id="14" name="Picture 13">
            <a:extLst>
              <a:ext uri="{FF2B5EF4-FFF2-40B4-BE49-F238E27FC236}">
                <a16:creationId xmlns:a16="http://schemas.microsoft.com/office/drawing/2014/main" id="{D43490CA-ABEE-46DA-8246-0E12390A6B72}"/>
              </a:ext>
            </a:extLst>
          </p:cNvPr>
          <p:cNvPicPr>
            <a:picLocks noChangeAspect="1"/>
          </p:cNvPicPr>
          <p:nvPr/>
        </p:nvPicPr>
        <p:blipFill>
          <a:blip r:embed="rId5"/>
          <a:stretch>
            <a:fillRect/>
          </a:stretch>
        </p:blipFill>
        <p:spPr>
          <a:xfrm>
            <a:off x="5526258" y="4103073"/>
            <a:ext cx="5744532" cy="2532912"/>
          </a:xfrm>
          <a:prstGeom prst="rect">
            <a:avLst/>
          </a:prstGeom>
        </p:spPr>
      </p:pic>
    </p:spTree>
    <p:extLst>
      <p:ext uri="{BB962C8B-B14F-4D97-AF65-F5344CB8AC3E}">
        <p14:creationId xmlns:p14="http://schemas.microsoft.com/office/powerpoint/2010/main" val="61100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3DA2B9-6386-4AF7-83F7-898B545EF10A}"/>
              </a:ext>
            </a:extLst>
          </p:cNvPr>
          <p:cNvSpPr>
            <a:spLocks noGrp="1"/>
          </p:cNvSpPr>
          <p:nvPr>
            <p:ph type="title"/>
          </p:nvPr>
        </p:nvSpPr>
        <p:spPr>
          <a:xfrm>
            <a:off x="838200" y="365125"/>
            <a:ext cx="10515600" cy="1325563"/>
          </a:xfrm>
        </p:spPr>
        <p:txBody>
          <a:bodyPr>
            <a:normAutofit/>
          </a:bodyPr>
          <a:lstStyle/>
          <a:p>
            <a:r>
              <a:rPr lang="en-US" sz="4400" dirty="0">
                <a:latin typeface="Amasis MT Pro Black" panose="02040A04050005020304" pitchFamily="18" charset="0"/>
              </a:rPr>
              <a:t>EDA Results</a:t>
            </a:r>
            <a:endParaRPr lang="en-GB" sz="4400" dirty="0">
              <a:latin typeface="Amasis MT Pro Black" panose="02040A04050005020304" pitchFamily="18" charset="0"/>
            </a:endParaRPr>
          </a:p>
        </p:txBody>
      </p:sp>
      <p:pic>
        <p:nvPicPr>
          <p:cNvPr id="4" name="Picture 3">
            <a:extLst>
              <a:ext uri="{FF2B5EF4-FFF2-40B4-BE49-F238E27FC236}">
                <a16:creationId xmlns:a16="http://schemas.microsoft.com/office/drawing/2014/main" id="{A914A6C1-AE28-422A-9A4A-6B7CB823D8AA}"/>
              </a:ext>
            </a:extLst>
          </p:cNvPr>
          <p:cNvPicPr>
            <a:picLocks noChangeAspect="1"/>
          </p:cNvPicPr>
          <p:nvPr/>
        </p:nvPicPr>
        <p:blipFill>
          <a:blip r:embed="rId2"/>
          <a:stretch>
            <a:fillRect/>
          </a:stretch>
        </p:blipFill>
        <p:spPr>
          <a:xfrm>
            <a:off x="1886146" y="3819525"/>
            <a:ext cx="6581628" cy="3038475"/>
          </a:xfrm>
          <a:prstGeom prst="rect">
            <a:avLst/>
          </a:prstGeom>
        </p:spPr>
      </p:pic>
      <p:pic>
        <p:nvPicPr>
          <p:cNvPr id="5" name="Picture 4">
            <a:extLst>
              <a:ext uri="{FF2B5EF4-FFF2-40B4-BE49-F238E27FC236}">
                <a16:creationId xmlns:a16="http://schemas.microsoft.com/office/drawing/2014/main" id="{33CBD56A-4466-46E3-970D-CEB556B56E95}"/>
              </a:ext>
            </a:extLst>
          </p:cNvPr>
          <p:cNvPicPr>
            <a:picLocks noChangeAspect="1"/>
          </p:cNvPicPr>
          <p:nvPr/>
        </p:nvPicPr>
        <p:blipFill>
          <a:blip r:embed="rId3"/>
          <a:stretch>
            <a:fillRect/>
          </a:stretch>
        </p:blipFill>
        <p:spPr>
          <a:xfrm>
            <a:off x="8467774" y="1733699"/>
            <a:ext cx="3122775" cy="3122775"/>
          </a:xfrm>
          <a:prstGeom prst="rect">
            <a:avLst/>
          </a:prstGeom>
        </p:spPr>
      </p:pic>
      <p:pic>
        <p:nvPicPr>
          <p:cNvPr id="6" name="Picture 5">
            <a:extLst>
              <a:ext uri="{FF2B5EF4-FFF2-40B4-BE49-F238E27FC236}">
                <a16:creationId xmlns:a16="http://schemas.microsoft.com/office/drawing/2014/main" id="{1D00EB9D-86C6-4257-9AE9-592AA68DF3D0}"/>
              </a:ext>
            </a:extLst>
          </p:cNvPr>
          <p:cNvPicPr>
            <a:picLocks noChangeAspect="1"/>
          </p:cNvPicPr>
          <p:nvPr/>
        </p:nvPicPr>
        <p:blipFill>
          <a:blip r:embed="rId4"/>
          <a:stretch>
            <a:fillRect/>
          </a:stretch>
        </p:blipFill>
        <p:spPr>
          <a:xfrm>
            <a:off x="439011" y="1827827"/>
            <a:ext cx="2622241" cy="2622241"/>
          </a:xfrm>
          <a:prstGeom prst="rect">
            <a:avLst/>
          </a:prstGeom>
        </p:spPr>
      </p:pic>
      <p:pic>
        <p:nvPicPr>
          <p:cNvPr id="7" name="Picture 6">
            <a:extLst>
              <a:ext uri="{FF2B5EF4-FFF2-40B4-BE49-F238E27FC236}">
                <a16:creationId xmlns:a16="http://schemas.microsoft.com/office/drawing/2014/main" id="{0AD49298-0965-4E44-8BF5-8C8594CC32F2}"/>
              </a:ext>
            </a:extLst>
          </p:cNvPr>
          <p:cNvPicPr>
            <a:picLocks noChangeAspect="1"/>
          </p:cNvPicPr>
          <p:nvPr/>
        </p:nvPicPr>
        <p:blipFill>
          <a:blip r:embed="rId5"/>
          <a:stretch>
            <a:fillRect/>
          </a:stretch>
        </p:blipFill>
        <p:spPr>
          <a:xfrm>
            <a:off x="5176960" y="1902798"/>
            <a:ext cx="2200275" cy="2200275"/>
          </a:xfrm>
          <a:prstGeom prst="rect">
            <a:avLst/>
          </a:prstGeom>
        </p:spPr>
      </p:pic>
    </p:spTree>
    <p:extLst>
      <p:ext uri="{BB962C8B-B14F-4D97-AF65-F5344CB8AC3E}">
        <p14:creationId xmlns:p14="http://schemas.microsoft.com/office/powerpoint/2010/main" val="3784931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3DA2B9-6386-4AF7-83F7-898B545EF10A}"/>
              </a:ext>
            </a:extLst>
          </p:cNvPr>
          <p:cNvSpPr>
            <a:spLocks noGrp="1"/>
          </p:cNvSpPr>
          <p:nvPr>
            <p:ph type="title"/>
          </p:nvPr>
        </p:nvSpPr>
        <p:spPr>
          <a:xfrm>
            <a:off x="838200" y="365125"/>
            <a:ext cx="10515600" cy="1325563"/>
          </a:xfrm>
        </p:spPr>
        <p:txBody>
          <a:bodyPr>
            <a:normAutofit/>
          </a:bodyPr>
          <a:lstStyle/>
          <a:p>
            <a:r>
              <a:rPr lang="en-US" sz="4400" dirty="0">
                <a:latin typeface="Amasis MT Pro Black" panose="02040A04050005020304" pitchFamily="18" charset="0"/>
              </a:rPr>
              <a:t>Results</a:t>
            </a:r>
            <a:endParaRPr lang="en-GB" sz="4400" dirty="0">
              <a:latin typeface="Amasis MT Pro Black" panose="02040A04050005020304" pitchFamily="18" charset="0"/>
            </a:endParaRPr>
          </a:p>
        </p:txBody>
      </p:sp>
      <p:pic>
        <p:nvPicPr>
          <p:cNvPr id="6" name="Content Placeholder 12" descr="Bar chart&#10;&#10;Description automatically generated with low confidence">
            <a:extLst>
              <a:ext uri="{FF2B5EF4-FFF2-40B4-BE49-F238E27FC236}">
                <a16:creationId xmlns:a16="http://schemas.microsoft.com/office/drawing/2014/main" id="{B6AA181E-1C36-4210-99D7-AA7AB8F5A1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64184"/>
            <a:ext cx="10515600" cy="2553370"/>
          </a:xfrm>
        </p:spPr>
      </p:pic>
      <p:pic>
        <p:nvPicPr>
          <p:cNvPr id="7" name="Picture 6" descr="A screenshot of a computer&#10;&#10;Description automatically generated with medium confidence">
            <a:extLst>
              <a:ext uri="{FF2B5EF4-FFF2-40B4-BE49-F238E27FC236}">
                <a16:creationId xmlns:a16="http://schemas.microsoft.com/office/drawing/2014/main" id="{8186C0CF-432A-4D43-A3F7-D39AD45328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5884" y="4386470"/>
            <a:ext cx="10387916" cy="2447778"/>
          </a:xfrm>
          <a:prstGeom prst="rect">
            <a:avLst/>
          </a:prstGeom>
        </p:spPr>
      </p:pic>
    </p:spTree>
    <p:extLst>
      <p:ext uri="{BB962C8B-B14F-4D97-AF65-F5344CB8AC3E}">
        <p14:creationId xmlns:p14="http://schemas.microsoft.com/office/powerpoint/2010/main" val="3896520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3DA2B9-6386-4AF7-83F7-898B545EF10A}"/>
              </a:ext>
            </a:extLst>
          </p:cNvPr>
          <p:cNvSpPr>
            <a:spLocks noGrp="1"/>
          </p:cNvSpPr>
          <p:nvPr>
            <p:ph type="title"/>
          </p:nvPr>
        </p:nvSpPr>
        <p:spPr>
          <a:xfrm>
            <a:off x="838200" y="365125"/>
            <a:ext cx="10515600" cy="1325563"/>
          </a:xfrm>
        </p:spPr>
        <p:txBody>
          <a:bodyPr>
            <a:normAutofit/>
          </a:bodyPr>
          <a:lstStyle/>
          <a:p>
            <a:r>
              <a:rPr lang="en-US" sz="4400" dirty="0">
                <a:latin typeface="Amasis MT Pro Black" panose="02040A04050005020304" pitchFamily="18" charset="0"/>
              </a:rPr>
              <a:t>Results</a:t>
            </a:r>
            <a:endParaRPr lang="en-GB" sz="4400" dirty="0">
              <a:latin typeface="Amasis MT Pro Black" panose="02040A04050005020304" pitchFamily="18" charset="0"/>
            </a:endParaRPr>
          </a:p>
        </p:txBody>
      </p:sp>
      <p:pic>
        <p:nvPicPr>
          <p:cNvPr id="11" name="Content Placeholder 4" descr="Text&#10;&#10;Description automatically generated">
            <a:extLst>
              <a:ext uri="{FF2B5EF4-FFF2-40B4-BE49-F238E27FC236}">
                <a16:creationId xmlns:a16="http://schemas.microsoft.com/office/drawing/2014/main" id="{7DDF20C7-D24D-4A94-AAA6-8C85DABBF9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873868"/>
            <a:ext cx="10515599" cy="1773661"/>
          </a:xfrm>
        </p:spPr>
      </p:pic>
      <p:pic>
        <p:nvPicPr>
          <p:cNvPr id="12" name="Picture 11" descr="Text&#10;&#10;Description automatically generated">
            <a:extLst>
              <a:ext uri="{FF2B5EF4-FFF2-40B4-BE49-F238E27FC236}">
                <a16:creationId xmlns:a16="http://schemas.microsoft.com/office/drawing/2014/main" id="{71DD080A-0797-43BF-864F-D6A97B264D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47" y="3647529"/>
            <a:ext cx="10515599" cy="2212060"/>
          </a:xfrm>
          <a:prstGeom prst="rect">
            <a:avLst/>
          </a:prstGeom>
        </p:spPr>
      </p:pic>
      <p:sp>
        <p:nvSpPr>
          <p:cNvPr id="3" name="TextBox 2">
            <a:extLst>
              <a:ext uri="{FF2B5EF4-FFF2-40B4-BE49-F238E27FC236}">
                <a16:creationId xmlns:a16="http://schemas.microsoft.com/office/drawing/2014/main" id="{B3B6AE1C-AC01-44DC-A945-C1CBD7F1204D}"/>
              </a:ext>
            </a:extLst>
          </p:cNvPr>
          <p:cNvSpPr txBox="1"/>
          <p:nvPr/>
        </p:nvSpPr>
        <p:spPr>
          <a:xfrm>
            <a:off x="1139686" y="6003235"/>
            <a:ext cx="10200860" cy="646331"/>
          </a:xfrm>
          <a:prstGeom prst="rect">
            <a:avLst/>
          </a:prstGeom>
          <a:noFill/>
        </p:spPr>
        <p:txBody>
          <a:bodyPr wrap="square" rtlCol="0">
            <a:spAutoFit/>
          </a:bodyPr>
          <a:lstStyle/>
          <a:p>
            <a:r>
              <a:rPr lang="en-US" b="0" i="0" dirty="0">
                <a:solidFill>
                  <a:srgbClr val="212121"/>
                </a:solidFill>
                <a:effectLst/>
                <a:latin typeface="Courier New" panose="02070309020205020404" pitchFamily="49" charset="0"/>
              </a:rPr>
              <a:t>ID3 Testing accuracy: </a:t>
            </a:r>
            <a:r>
              <a:rPr lang="en-US" b="0" i="0">
                <a:solidFill>
                  <a:srgbClr val="212121"/>
                </a:solidFill>
                <a:effectLst/>
                <a:latin typeface="Courier New" panose="02070309020205020404" pitchFamily="49" charset="0"/>
              </a:rPr>
              <a:t>0.9307692307692308 ID3 </a:t>
            </a:r>
            <a:r>
              <a:rPr lang="en-US" b="0" i="0" dirty="0">
                <a:solidFill>
                  <a:srgbClr val="212121"/>
                </a:solidFill>
                <a:effectLst/>
                <a:latin typeface="Courier New" panose="02070309020205020404" pitchFamily="49" charset="0"/>
              </a:rPr>
              <a:t>Training accuracy: 1.0</a:t>
            </a:r>
          </a:p>
          <a:p>
            <a:r>
              <a:rPr lang="en-US" b="0" i="0" dirty="0">
                <a:solidFill>
                  <a:srgbClr val="212121"/>
                </a:solidFill>
                <a:effectLst/>
                <a:latin typeface="Courier New" panose="02070309020205020404" pitchFamily="49" charset="0"/>
              </a:rPr>
              <a:t>C4.5 Testing accuracy: 0.9307692307692308 C4.5 Training accuracy: 1.0</a:t>
            </a:r>
            <a:endParaRPr lang="en-GB" dirty="0"/>
          </a:p>
        </p:txBody>
      </p:sp>
    </p:spTree>
    <p:extLst>
      <p:ext uri="{BB962C8B-B14F-4D97-AF65-F5344CB8AC3E}">
        <p14:creationId xmlns:p14="http://schemas.microsoft.com/office/powerpoint/2010/main" val="354557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D139AA-A7C6-417B-9272-515312E392FD}"/>
              </a:ext>
            </a:extLst>
          </p:cNvPr>
          <p:cNvSpPr>
            <a:spLocks noGrp="1"/>
          </p:cNvSpPr>
          <p:nvPr>
            <p:ph type="title"/>
          </p:nvPr>
        </p:nvSpPr>
        <p:spPr>
          <a:xfrm>
            <a:off x="838200" y="365125"/>
            <a:ext cx="10515600" cy="1325563"/>
          </a:xfrm>
        </p:spPr>
        <p:txBody>
          <a:bodyPr>
            <a:normAutofit/>
          </a:bodyPr>
          <a:lstStyle/>
          <a:p>
            <a:r>
              <a:rPr lang="en-US" sz="4400" dirty="0">
                <a:latin typeface="Amasis MT Pro Black" panose="02040A04050005020304" pitchFamily="18" charset="0"/>
              </a:rPr>
              <a:t>Summary</a:t>
            </a:r>
            <a:endParaRPr lang="en-GB" sz="4400" dirty="0">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9150D3C1-CDF6-4B31-96FC-3495A858DADF}"/>
              </a:ext>
            </a:extLst>
          </p:cNvPr>
          <p:cNvSpPr>
            <a:spLocks noGrp="1"/>
          </p:cNvSpPr>
          <p:nvPr>
            <p:ph idx="1"/>
          </p:nvPr>
        </p:nvSpPr>
        <p:spPr>
          <a:xfrm>
            <a:off x="838200" y="1929384"/>
            <a:ext cx="10515600" cy="4251960"/>
          </a:xfrm>
        </p:spPr>
        <p:txBody>
          <a:bodyPr>
            <a:normAutofit/>
          </a:bodyPr>
          <a:lstStyle/>
          <a:p>
            <a:pPr marL="0" indent="0">
              <a:lnSpc>
                <a:spcPct val="100000"/>
              </a:lnSpc>
              <a:buNone/>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A lot of researchers have been undertaken to discover several elements namely the student academic aspect, the personal aspect, the family aspect, and the teacher aspect for learner’s academic attainment. Many criteria, or combinations of aspects, influence learner achievement, which varies from one nation to another, one organization to another, one community to another, and one set of learners to the next. In this case, the learners social and emotional data is crucial. The learner's social and emotional data must be more engaged with the learner, providing correct direction and motivating the learner. According to the findings of various research, emotional intelligence and data mining methods are important assets for enhancing learner’s academic attainment prediction. </a:t>
            </a:r>
            <a:r>
              <a:rPr lang="en-US" sz="1800">
                <a:latin typeface="Times New Roman" panose="02020603050405020304" pitchFamily="18" charset="0"/>
                <a:ea typeface="Calibri" panose="020F0502020204030204" pitchFamily="34" charset="0"/>
                <a:cs typeface="Times New Roman" panose="02020603050405020304" pitchFamily="18" charset="0"/>
              </a:rPr>
              <a:t>According to research, SEL is not just to enhances performance by 11 percent on average, but also enhances interpersonal skills (such compassion, sharing, and empathy), enhance learning academic competence, and decreases sadness &amp; anxiety among children. </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It demonstrated that emotional intelligence and data mining may be leveraged in institutions to forecast learners' academic results. The goal of overall research investigations is to employ data mining methods and emotional intelligence to detect learner academic attainment.</a:t>
            </a:r>
          </a:p>
          <a:p>
            <a:pPr>
              <a:lnSpc>
                <a:spcPct val="100000"/>
              </a:lnSpc>
            </a:pP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1324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46A3D0-CAA8-4456-8361-05ADD92F05F7}"/>
              </a:ext>
            </a:extLst>
          </p:cNvPr>
          <p:cNvSpPr>
            <a:spLocks noGrp="1"/>
          </p:cNvSpPr>
          <p:nvPr>
            <p:ph type="title"/>
          </p:nvPr>
        </p:nvSpPr>
        <p:spPr>
          <a:xfrm>
            <a:off x="838200" y="365125"/>
            <a:ext cx="10515600" cy="1325563"/>
          </a:xfrm>
        </p:spPr>
        <p:txBody>
          <a:bodyPr>
            <a:normAutofit/>
          </a:bodyPr>
          <a:lstStyle/>
          <a:p>
            <a:r>
              <a:rPr lang="en-US" sz="4400" dirty="0">
                <a:latin typeface="Amasis MT Pro Black" panose="02040A04050005020304" pitchFamily="18" charset="0"/>
              </a:rPr>
              <a:t>References</a:t>
            </a:r>
            <a:endParaRPr lang="en-GB" sz="4400" dirty="0">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29712BFE-3017-4DF0-9506-D2AD597A4EB2}"/>
              </a:ext>
            </a:extLst>
          </p:cNvPr>
          <p:cNvSpPr>
            <a:spLocks noGrp="1"/>
          </p:cNvSpPr>
          <p:nvPr>
            <p:ph idx="1"/>
          </p:nvPr>
        </p:nvSpPr>
        <p:spPr>
          <a:xfrm>
            <a:off x="838200" y="1929384"/>
            <a:ext cx="10684764" cy="4802720"/>
          </a:xfrm>
        </p:spPr>
        <p:txBody>
          <a:bodyPr>
            <a:normAutofit lnSpcReduction="10000"/>
          </a:bodyPr>
          <a:lstStyle/>
          <a:p>
            <a:r>
              <a:rPr lang="en-GB"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James, </a:t>
            </a:r>
            <a:r>
              <a:rPr lang="en-GB"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I.Samuel</a:t>
            </a:r>
            <a:r>
              <a:rPr lang="en-GB"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Peter &amp; </a:t>
            </a:r>
            <a:r>
              <a:rPr lang="en-GB"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Ramasubramanian</a:t>
            </a:r>
            <a:r>
              <a:rPr lang="en-GB"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Perumal. (2019). Emotional Intelligence Based Learning On The Academic Attainment of Learners And Assessment Using Data Mining Algorithms. Caribbean Journal of Science. 53. 379-392.</a:t>
            </a:r>
            <a:endParaRPr lang="en-GB"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1800" dirty="0" err="1">
                <a:latin typeface="Times New Roman" panose="02020603050405020304" pitchFamily="18" charset="0"/>
                <a:cs typeface="Times New Roman" panose="02020603050405020304" pitchFamily="18" charset="0"/>
              </a:rPr>
              <a:t>Allbright</a:t>
            </a:r>
            <a:r>
              <a:rPr lang="en-US" sz="1800" dirty="0">
                <a:latin typeface="Times New Roman" panose="02020603050405020304" pitchFamily="18" charset="0"/>
                <a:cs typeface="Times New Roman" panose="02020603050405020304" pitchFamily="18" charset="0"/>
              </a:rPr>
              <a:t>, T. N., Marsh, J. A., Kennedy, K. E., Hough, H. J., and McKibben, S. (2019) 'Social-Emotional        Learning Practices: Insights from Outlier Schools'. Journal of Research in Innovative Teaching &amp; Learning</a:t>
            </a:r>
          </a:p>
          <a:p>
            <a:r>
              <a:rPr lang="en-US" sz="1800" dirty="0" err="1">
                <a:latin typeface="Times New Roman" panose="02020603050405020304" pitchFamily="18" charset="0"/>
                <a:cs typeface="Times New Roman" panose="02020603050405020304" pitchFamily="18" charset="0"/>
              </a:rPr>
              <a:t>Jagers</a:t>
            </a:r>
            <a:r>
              <a:rPr lang="en-US" sz="1800" dirty="0">
                <a:latin typeface="Times New Roman" panose="02020603050405020304" pitchFamily="18" charset="0"/>
                <a:cs typeface="Times New Roman" panose="02020603050405020304" pitchFamily="18" charset="0"/>
              </a:rPr>
              <a:t>, R. J., Rivas-Drake, D., and Williams, B. (2019) 'Transformative Social and Emotional Learning (SEL): Toward SEL in Service of Educational Equity and Excellence'. Educational Psychologist 54 (3), 162-184</a:t>
            </a:r>
          </a:p>
          <a:p>
            <a:r>
              <a:rPr lang="en-GB" sz="1800" dirty="0">
                <a:solidFill>
                  <a:srgbClr val="000000"/>
                </a:solidFill>
                <a:effectLst/>
                <a:latin typeface="Helvetica" panose="020B0604020202020204" pitchFamily="34" charset="0"/>
                <a:ea typeface="Times New Roman" panose="02020603050405020304" pitchFamily="18" charset="0"/>
              </a:rPr>
              <a:t>Jones-Schenk, J. (2019) 'Social and Emotional Learning: Why does it Matter?'. The Journal of Continuing Education in Nursing 50 (2), 57-58</a:t>
            </a:r>
            <a:endParaRPr lang="en-GB" sz="1800" dirty="0">
              <a:effectLst/>
              <a:latin typeface="Times New Roman" panose="02020603050405020304" pitchFamily="18" charset="0"/>
              <a:ea typeface="Times New Roman" panose="02020603050405020304" pitchFamily="18" charset="0"/>
            </a:endParaRPr>
          </a:p>
          <a:p>
            <a:r>
              <a:rPr lang="en-GB" sz="1800" dirty="0" err="1">
                <a:solidFill>
                  <a:srgbClr val="000000"/>
                </a:solidFill>
                <a:effectLst/>
                <a:latin typeface="Helvetica" panose="020B0604020202020204" pitchFamily="34" charset="0"/>
                <a:ea typeface="Times New Roman" panose="02020603050405020304" pitchFamily="18" charset="0"/>
              </a:rPr>
              <a:t>Zhoc</a:t>
            </a:r>
            <a:r>
              <a:rPr lang="en-GB" sz="1800" dirty="0">
                <a:solidFill>
                  <a:srgbClr val="000000"/>
                </a:solidFill>
                <a:effectLst/>
                <a:latin typeface="Helvetica" panose="020B0604020202020204" pitchFamily="34" charset="0"/>
                <a:ea typeface="Times New Roman" panose="02020603050405020304" pitchFamily="18" charset="0"/>
              </a:rPr>
              <a:t>, K. C., King, R. B., Chung, T. S., &amp; Chen, J. (2020). Emotionally intelligent students are more engaged and successful: Examining the role of emotional intelligence in higher education.</a:t>
            </a:r>
            <a:r>
              <a:rPr lang="en-GB" sz="1800" i="1" dirty="0">
                <a:solidFill>
                  <a:srgbClr val="000000"/>
                </a:solidFill>
                <a:effectLst/>
                <a:latin typeface="Helvetica" panose="020B0604020202020204" pitchFamily="34" charset="0"/>
                <a:ea typeface="Times New Roman" panose="02020603050405020304" pitchFamily="18" charset="0"/>
              </a:rPr>
              <a:t> European Journal of Psychology of Education, 35</a:t>
            </a:r>
            <a:r>
              <a:rPr lang="en-GB" sz="1800" dirty="0">
                <a:solidFill>
                  <a:srgbClr val="000000"/>
                </a:solidFill>
                <a:effectLst/>
                <a:latin typeface="Helvetica" panose="020B0604020202020204" pitchFamily="34" charset="0"/>
                <a:ea typeface="Times New Roman" panose="02020603050405020304" pitchFamily="18" charset="0"/>
              </a:rPr>
              <a:t>(4), 839-863.</a:t>
            </a:r>
          </a:p>
          <a:p>
            <a:r>
              <a:rPr lang="en-GB" sz="1800" dirty="0">
                <a:solidFill>
                  <a:srgbClr val="000000"/>
                </a:solidFill>
                <a:effectLst/>
                <a:latin typeface="Helvetica" panose="020B0604020202020204" pitchFamily="34" charset="0"/>
                <a:ea typeface="Times New Roman" panose="02020603050405020304" pitchFamily="18" charset="0"/>
              </a:rPr>
              <a:t>Jan, S. U., &amp; Anwar, M. A. (2019). Emotional intelligence, library use and academic achievement of university students.</a:t>
            </a:r>
            <a:r>
              <a:rPr lang="en-GB" sz="1800" i="1" dirty="0">
                <a:solidFill>
                  <a:srgbClr val="000000"/>
                </a:solidFill>
                <a:effectLst/>
                <a:latin typeface="Helvetica" panose="020B0604020202020204" pitchFamily="34" charset="0"/>
                <a:ea typeface="Times New Roman" panose="02020603050405020304" pitchFamily="18" charset="0"/>
              </a:rPr>
              <a:t> Journal of the Australian Library and Information Association, 68</a:t>
            </a:r>
            <a:r>
              <a:rPr lang="en-GB" sz="1800" dirty="0">
                <a:solidFill>
                  <a:srgbClr val="000000"/>
                </a:solidFill>
                <a:effectLst/>
                <a:latin typeface="Helvetica" panose="020B0604020202020204" pitchFamily="34" charset="0"/>
                <a:ea typeface="Times New Roman" panose="02020603050405020304" pitchFamily="18" charset="0"/>
              </a:rPr>
              <a:t>(1), 38-55.</a:t>
            </a: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3871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8B852-2493-4693-8E72-8FE635745E8F}"/>
              </a:ext>
            </a:extLst>
          </p:cNvPr>
          <p:cNvSpPr>
            <a:spLocks noGrp="1"/>
          </p:cNvSpPr>
          <p:nvPr>
            <p:ph type="title"/>
          </p:nvPr>
        </p:nvSpPr>
        <p:spPr>
          <a:xfrm>
            <a:off x="640080" y="325369"/>
            <a:ext cx="4368602" cy="1956841"/>
          </a:xfrm>
        </p:spPr>
        <p:txBody>
          <a:bodyPr anchor="b">
            <a:normAutofit/>
          </a:bodyPr>
          <a:lstStyle/>
          <a:p>
            <a:r>
              <a:rPr lang="en-US" sz="6600" dirty="0"/>
              <a:t>Q&amp;A</a:t>
            </a:r>
            <a:endParaRPr lang="en-GB" sz="6600" dirty="0"/>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D9B070"/>
          </a:solidFill>
          <a:ln w="38100" cap="rnd">
            <a:solidFill>
              <a:srgbClr val="D9B070"/>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Question mark against red wall">
            <a:extLst>
              <a:ext uri="{FF2B5EF4-FFF2-40B4-BE49-F238E27FC236}">
                <a16:creationId xmlns:a16="http://schemas.microsoft.com/office/drawing/2014/main" id="{431E3ACB-5F4D-41C4-90AB-714E5672447A}"/>
              </a:ext>
            </a:extLst>
          </p:cNvPr>
          <p:cNvPicPr>
            <a:picLocks noChangeAspect="1"/>
          </p:cNvPicPr>
          <p:nvPr/>
        </p:nvPicPr>
        <p:blipFill rotWithShape="1">
          <a:blip r:embed="rId2"/>
          <a:srcRect l="39316" r="1"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901877339"/>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D30E2E9C8D377499B84751D5FF2C25C" ma:contentTypeVersion="7" ma:contentTypeDescription="Create a new document." ma:contentTypeScope="" ma:versionID="9d7eba9aa178c0eb28c95e54ee9d8d31">
  <xsd:schema xmlns:xsd="http://www.w3.org/2001/XMLSchema" xmlns:xs="http://www.w3.org/2001/XMLSchema" xmlns:p="http://schemas.microsoft.com/office/2006/metadata/properties" xmlns:ns3="f3759354-954a-41a8-8a53-c604ae0aeec0" xmlns:ns4="68bb4737-e2fb-4fa8-b907-1fd5cc45c653" targetNamespace="http://schemas.microsoft.com/office/2006/metadata/properties" ma:root="true" ma:fieldsID="e84233e8017d32103ad05417b440569c" ns3:_="" ns4:_="">
    <xsd:import namespace="f3759354-954a-41a8-8a53-c604ae0aeec0"/>
    <xsd:import namespace="68bb4737-e2fb-4fa8-b907-1fd5cc45c653"/>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759354-954a-41a8-8a53-c604ae0aee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8bb4737-e2fb-4fa8-b907-1fd5cc45c65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0F26A31-CAF9-48AF-858A-CDC6E9FE1A41}">
  <ds:schemaRefs>
    <ds:schemaRef ds:uri="http://schemas.microsoft.com/sharepoint/v3/contenttype/forms"/>
  </ds:schemaRefs>
</ds:datastoreItem>
</file>

<file path=customXml/itemProps2.xml><?xml version="1.0" encoding="utf-8"?>
<ds:datastoreItem xmlns:ds="http://schemas.openxmlformats.org/officeDocument/2006/customXml" ds:itemID="{FC924116-AD0B-4F3B-AB66-B62A927BF2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759354-954a-41a8-8a53-c604ae0aeec0"/>
    <ds:schemaRef ds:uri="68bb4737-e2fb-4fa8-b907-1fd5cc45c6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3116277-077B-48B9-9BA1-37AA8CBF9A24}">
  <ds:schemaRefs>
    <ds:schemaRef ds:uri="http://purl.org/dc/dcmitype/"/>
    <ds:schemaRef ds:uri="http://purl.org/dc/terms/"/>
    <ds:schemaRef ds:uri="http://schemas.microsoft.com/office/2006/metadata/properties"/>
    <ds:schemaRef ds:uri="http://www.w3.org/XML/1998/namespace"/>
    <ds:schemaRef ds:uri="http://schemas.microsoft.com/office/2006/documentManagement/types"/>
    <ds:schemaRef ds:uri="f3759354-954a-41a8-8a53-c604ae0aeec0"/>
    <ds:schemaRef ds:uri="http://purl.org/dc/elements/1.1/"/>
    <ds:schemaRef ds:uri="http://schemas.microsoft.com/office/infopath/2007/PartnerControls"/>
    <ds:schemaRef ds:uri="http://schemas.openxmlformats.org/package/2006/metadata/core-properties"/>
    <ds:schemaRef ds:uri="68bb4737-e2fb-4fa8-b907-1fd5cc45c653"/>
  </ds:schemaRefs>
</ds:datastoreItem>
</file>

<file path=docProps/app.xml><?xml version="1.0" encoding="utf-8"?>
<Properties xmlns="http://schemas.openxmlformats.org/officeDocument/2006/extended-properties" xmlns:vt="http://schemas.openxmlformats.org/officeDocument/2006/docPropsVTypes">
  <TotalTime>1969</TotalTime>
  <Words>1872</Words>
  <Application>Microsoft Office PowerPoint</Application>
  <PresentationFormat>Widescreen</PresentationFormat>
  <Paragraphs>76</Paragraphs>
  <Slides>19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Amasis MT Pro Black</vt:lpstr>
      <vt:lpstr>Arial</vt:lpstr>
      <vt:lpstr>Calibri</vt:lpstr>
      <vt:lpstr>Courier New</vt:lpstr>
      <vt:lpstr>Helvetica</vt:lpstr>
      <vt:lpstr>High Tower Text</vt:lpstr>
      <vt:lpstr>Modern Love</vt:lpstr>
      <vt:lpstr>The Hand</vt:lpstr>
      <vt:lpstr>Times New Roman</vt:lpstr>
      <vt:lpstr>SketchyVTI</vt:lpstr>
      <vt:lpstr>Utilizing Data Mining Techniques to Enhance Learner's Emotional Intelligence and Academic Attainment</vt:lpstr>
      <vt:lpstr>PowerPoint Presentation</vt:lpstr>
      <vt:lpstr>Outline</vt:lpstr>
      <vt:lpstr>What is social &amp; emotional Learning and why is it important? </vt:lpstr>
      <vt:lpstr>Research Question &amp; Aim and Objectives</vt:lpstr>
      <vt:lpstr>Problem Statement &amp; Topic for Investigation</vt:lpstr>
      <vt:lpstr>Intended Users</vt:lpstr>
      <vt:lpstr>Literature Review</vt:lpstr>
      <vt:lpstr>Gantt Chart</vt:lpstr>
      <vt:lpstr>Design and Methodology: Educational Data mining approach for social-emotional learners</vt:lpstr>
      <vt:lpstr>Implementation</vt:lpstr>
      <vt:lpstr>Implementation</vt:lpstr>
      <vt:lpstr>EDA Results</vt:lpstr>
      <vt:lpstr>EDA Results</vt:lpstr>
      <vt:lpstr>Results</vt:lpstr>
      <vt:lpstr>Results</vt:lpstr>
      <vt:lpstr>Summary</vt:lpstr>
      <vt:lpstr>References</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&amp; Emotional Learning</dc:title>
  <dc:creator>Santhosh Nanubala</dc:creator>
  <cp:lastModifiedBy>Santhosh Nanubala</cp:lastModifiedBy>
  <cp:revision>4</cp:revision>
  <dcterms:created xsi:type="dcterms:W3CDTF">2022-03-29T21:16:16Z</dcterms:created>
  <dcterms:modified xsi:type="dcterms:W3CDTF">2022-04-19T13:48:53Z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0x0101002D30E2E9C8D377499B84751D5FF2C25C</vt:lpwstr>
  </property>
</Properties>
</file>